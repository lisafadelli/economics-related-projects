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848"/>
    <p:restoredTop sz="88088"/>
  </p:normalViewPr>
  <p:slideViewPr>
    <p:cSldViewPr snapToGrid="0" snapToObjects="1">
      <p:cViewPr>
        <p:scale>
          <a:sx n="92" d="100"/>
          <a:sy n="92" d="100"/>
        </p:scale>
        <p:origin x="212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29T17:31:01.93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0,'30'0,"9"0,-5 0,26 0,-15 0,18 0,-1 0,3 0,0 0,8 0,-8 0,0 0,-3 0,-10 0,-9 0,-2 0,-17 0,-2 0,-8 0,0 0,0 0,1 0,-1 0,0 0,0 0,17 0,-5 0,24 0,-7 0,9 0,0 0,-9 0,6 0,-15 0,-1 0,-3 0,-6 0,7 0,-7 0,6 0,-14 0,6 0,-8 0,8 0,-6 0,6 0,-7 0,-1 0,0 0,0 0,1 0,-1 0,0 0,0 0,1 0,-1 0,0 0,0 0,1 0,-1 0,0 0,0 0,1 0,-1 0,0 0,0 0,1 0,-1 0,-6 0,-2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29T17:31:04.64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1,'39'0,"-1"0,3 0,-7 0,6 0,-8 0,0 0,-1 0,1 0,6 0,-13 0,11 0,-12 0,0 0,5 0,-5 0,8 0,-1 0,1 0,9 0,-8 0,8 0,0 0,-8 0,8 0,-9 0,-1 0,1 0,-1 0,-7 0,6 0,-14 0,14 0,-14 0,14 0,-14 0,13 0,-12 0,12 0,-13 0,14 0,-14 0,6 6,0-5,-6 6,6-7,0 0,2 0,0 0,5 0,-5 0,8 0,9 0,-8 0,17 0,-16 0,30 0,-18 0,11 0,-16 0,-10 0,1 0,-1 0,-7 0,-2 0,-8 0,1 0,7 0,-6 0,6 0,0 0,-6 0,13 0,-12 0,12 0,-13 0,6 0,-7 0,-1 0,0 0,0 0,-6 0,-1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29T17:31:24.92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0,'41'0,"15"0,-9 0,1 0,27 0,-41 0,42 0,-35 0,16 0,0 0,-11 0,4 0,-18 0,-6 0,-6 0,-4 0,-4 0,-1 0,-4 0,0 0,0 0,0 0,4 4,5 1,1 2,12 2,-6 0,8-4,0 3,-9-4,8 1,-17 2,6-7,-11 4,3-1,-4-2,-3 2,-1-3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6-29T17:31:26.47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1,'41'0,"5"0,12 0,10 0,21 0,2 0,0 0,-15 0,18 0,-42 0,33 0,-32 0,6 0,-8 0,-8 0,-11 0,-1 0,-14 0,-1 0,-9 0,0 0,0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2942C-1BC4-C146-8D80-D5941DCED233}" type="datetimeFigureOut">
              <a:rPr lang="it-IT" smtClean="0"/>
              <a:t>28/06/21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55957-AF18-6D45-8FC0-73E976BB125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442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5957-AF18-6D45-8FC0-73E976BB125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1113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5957-AF18-6D45-8FC0-73E976BB125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888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purpose</a:t>
            </a:r>
            <a:r>
              <a:rPr lang="it-IT" dirty="0"/>
              <a:t> of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research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to </a:t>
            </a:r>
            <a:r>
              <a:rPr lang="it-IT" dirty="0" err="1"/>
              <a:t>adress</a:t>
            </a:r>
            <a:r>
              <a:rPr lang="it-IT" dirty="0"/>
              <a:t> some </a:t>
            </a:r>
            <a:r>
              <a:rPr lang="it-IT" dirty="0" err="1"/>
              <a:t>limitations</a:t>
            </a:r>
            <a:r>
              <a:rPr lang="it-IT" dirty="0"/>
              <a:t> </a:t>
            </a:r>
            <a:r>
              <a:rPr lang="it-IT" dirty="0" err="1"/>
              <a:t>raised</a:t>
            </a:r>
            <a:r>
              <a:rPr lang="it-IT" dirty="0"/>
              <a:t> from </a:t>
            </a:r>
            <a:r>
              <a:rPr lang="it-IT" dirty="0" err="1"/>
              <a:t>existing</a:t>
            </a:r>
            <a:r>
              <a:rPr lang="it-IT" dirty="0"/>
              <a:t> </a:t>
            </a:r>
            <a:r>
              <a:rPr lang="it-IT" dirty="0" err="1"/>
              <a:t>studies</a:t>
            </a:r>
            <a:r>
              <a:rPr lang="it-IT" dirty="0"/>
              <a:t> </a:t>
            </a:r>
          </a:p>
          <a:p>
            <a:r>
              <a:rPr lang="it-IT" dirty="0"/>
              <a:t>The </a:t>
            </a:r>
            <a:r>
              <a:rPr lang="it-IT" dirty="0" err="1"/>
              <a:t>authors</a:t>
            </a:r>
            <a:r>
              <a:rPr lang="it-IT" dirty="0"/>
              <a:t> test the </a:t>
            </a:r>
            <a:r>
              <a:rPr lang="it-IT" dirty="0" err="1"/>
              <a:t>effect</a:t>
            </a:r>
            <a:r>
              <a:rPr lang="it-IT" dirty="0"/>
              <a:t> of </a:t>
            </a:r>
            <a:r>
              <a:rPr lang="it-IT" dirty="0" err="1"/>
              <a:t>DTTs</a:t>
            </a:r>
            <a:r>
              <a:rPr lang="it-IT" dirty="0"/>
              <a:t> on FDI in a </a:t>
            </a:r>
            <a:r>
              <a:rPr lang="it-IT" dirty="0" err="1"/>
              <a:t>dyadic</a:t>
            </a:r>
            <a:r>
              <a:rPr lang="it-IT" dirty="0"/>
              <a:t> country </a:t>
            </a:r>
            <a:r>
              <a:rPr lang="it-IT" dirty="0" err="1"/>
              <a:t>dataset</a:t>
            </a:r>
            <a:r>
              <a:rPr lang="it-IT" dirty="0"/>
              <a:t> in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developed</a:t>
            </a:r>
            <a:r>
              <a:rPr lang="it-IT" dirty="0"/>
              <a:t> and </a:t>
            </a:r>
            <a:r>
              <a:rPr lang="it-IT" dirty="0" err="1"/>
              <a:t>developing</a:t>
            </a:r>
            <a:r>
              <a:rPr lang="it-IT" dirty="0"/>
              <a:t> </a:t>
            </a:r>
            <a:r>
              <a:rPr lang="it-IT" dirty="0" err="1"/>
              <a:t>countries</a:t>
            </a:r>
            <a:r>
              <a:rPr lang="it-IT" dirty="0"/>
              <a:t> are </a:t>
            </a:r>
            <a:r>
              <a:rPr lang="it-IT" dirty="0" err="1"/>
              <a:t>represented</a:t>
            </a:r>
            <a:r>
              <a:rPr lang="it-IT" dirty="0"/>
              <a:t> over a long </a:t>
            </a:r>
            <a:r>
              <a:rPr lang="it-IT" dirty="0" err="1"/>
              <a:t>period</a:t>
            </a:r>
            <a:r>
              <a:rPr lang="it-IT" dirty="0"/>
              <a:t> of time </a:t>
            </a:r>
          </a:p>
          <a:p>
            <a:r>
              <a:rPr lang="it-IT" dirty="0"/>
              <a:t>The </a:t>
            </a:r>
            <a:r>
              <a:rPr lang="it-IT" dirty="0" err="1"/>
              <a:t>authors</a:t>
            </a:r>
            <a:r>
              <a:rPr lang="it-IT" dirty="0"/>
              <a:t> </a:t>
            </a:r>
            <a:r>
              <a:rPr lang="it-IT" dirty="0" err="1"/>
              <a:t>implement</a:t>
            </a:r>
            <a:r>
              <a:rPr lang="it-IT" dirty="0"/>
              <a:t> </a:t>
            </a:r>
            <a:r>
              <a:rPr lang="it-IT" dirty="0" err="1"/>
              <a:t>dyadic</a:t>
            </a:r>
            <a:r>
              <a:rPr lang="it-IT" dirty="0"/>
              <a:t> (</a:t>
            </a:r>
            <a:r>
              <a:rPr lang="it-IT" dirty="0" err="1"/>
              <a:t>related</a:t>
            </a:r>
            <a:r>
              <a:rPr lang="it-IT" dirty="0"/>
              <a:t> to </a:t>
            </a:r>
            <a:r>
              <a:rPr lang="it-IT" dirty="0" err="1"/>
              <a:t>interaction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countries</a:t>
            </a:r>
            <a:r>
              <a:rPr lang="it-IT" dirty="0"/>
              <a:t>) </a:t>
            </a:r>
            <a:r>
              <a:rPr lang="it-IT" dirty="0" err="1"/>
              <a:t>fixed</a:t>
            </a:r>
            <a:r>
              <a:rPr lang="it-IT" dirty="0"/>
              <a:t> </a:t>
            </a:r>
            <a:r>
              <a:rPr lang="it-IT" dirty="0" err="1"/>
              <a:t>effect</a:t>
            </a:r>
            <a:r>
              <a:rPr lang="it-IT" dirty="0"/>
              <a:t> </a:t>
            </a:r>
            <a:r>
              <a:rPr lang="it-IT" dirty="0" err="1"/>
              <a:t>estimation</a:t>
            </a:r>
            <a:r>
              <a:rPr lang="it-IT" dirty="0"/>
              <a:t> </a:t>
            </a:r>
            <a:r>
              <a:rPr lang="it-IT" dirty="0" err="1"/>
              <a:t>measuring</a:t>
            </a:r>
            <a:r>
              <a:rPr lang="it-IT" dirty="0"/>
              <a:t> FDI in stock </a:t>
            </a:r>
            <a:r>
              <a:rPr lang="it-IT" dirty="0" err="1"/>
              <a:t>using</a:t>
            </a:r>
            <a:r>
              <a:rPr lang="it-IT" dirty="0"/>
              <a:t> 30 FDI source </a:t>
            </a:r>
            <a:r>
              <a:rPr lang="it-IT" dirty="0" err="1"/>
              <a:t>countries</a:t>
            </a:r>
            <a:r>
              <a:rPr lang="it-IT" dirty="0"/>
              <a:t> and 105 </a:t>
            </a:r>
            <a:r>
              <a:rPr lang="it-IT" dirty="0" err="1"/>
              <a:t>host</a:t>
            </a:r>
            <a:r>
              <a:rPr lang="it-IT" dirty="0"/>
              <a:t> </a:t>
            </a:r>
            <a:r>
              <a:rPr lang="it-IT" dirty="0" err="1"/>
              <a:t>countries</a:t>
            </a:r>
            <a:endParaRPr lang="it-IT" dirty="0"/>
          </a:p>
          <a:p>
            <a:r>
              <a:rPr lang="it-IT" dirty="0"/>
              <a:t>…</a:t>
            </a:r>
          </a:p>
          <a:p>
            <a:r>
              <a:rPr lang="it-IT" dirty="0"/>
              <a:t>The </a:t>
            </a:r>
            <a:r>
              <a:rPr lang="it-IT" dirty="0" err="1"/>
              <a:t>dependent</a:t>
            </a:r>
            <a:r>
              <a:rPr lang="it-IT" dirty="0"/>
              <a:t> </a:t>
            </a:r>
            <a:r>
              <a:rPr lang="it-IT" dirty="0" err="1"/>
              <a:t>variable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lnfdiinstock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referring to the logarithm of the FDI stock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explanatory dummy variable of main interest 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which shows the presence of a DTT</a:t>
            </a:r>
          </a:p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control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log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GDP to control the market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logarithm of host GDP per capita in nominal USD to control for the mean purchasing power of domestic consumers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logarithm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inflation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 in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country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the GDP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deflator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Then the ratio of a sum of exports and imports to GDP in the host country, to control for the openness of trade.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dummuy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variable which takes on the value of 1 when a regional trade agreement is set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bit is a binary variable that controls for the existence of a bilateral investment treaty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analysis covers a period from 1978 to 2004, and they added year specific time dummy variables to account for any trends in the total FDI.</a:t>
            </a: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5957-AF18-6D45-8FC0-73E976BB125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2200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  <a:p>
            <a:endParaRPr lang="it-IT" dirty="0"/>
          </a:p>
          <a:p>
            <a:pPr marL="228600" indent="-228600">
              <a:buAutoNum type="arabicParenR"/>
            </a:pPr>
            <a:endParaRPr lang="it-IT" dirty="0"/>
          </a:p>
          <a:p>
            <a:pPr marL="228600" indent="-228600">
              <a:buAutoNum type="arabicParenR"/>
            </a:pPr>
            <a:endParaRPr lang="it-IT" dirty="0"/>
          </a:p>
          <a:p>
            <a:pPr marL="228600" indent="-228600">
              <a:buAutoNum type="arabicParenR"/>
            </a:pPr>
            <a:endParaRPr lang="it-IT" dirty="0"/>
          </a:p>
          <a:p>
            <a:pPr marL="228600" indent="-228600">
              <a:buAutoNum type="arabicParenR"/>
            </a:pPr>
            <a:endParaRPr lang="it-IT" dirty="0"/>
          </a:p>
          <a:p>
            <a:pPr marL="228600" indent="-228600">
              <a:buAutoNum type="arabicParenR"/>
            </a:pP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5957-AF18-6D45-8FC0-73E976BB125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4424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5957-AF18-6D45-8FC0-73E976BB125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110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5957-AF18-6D45-8FC0-73E976BB125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4199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5957-AF18-6D45-8FC0-73E976BB125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0137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5957-AF18-6D45-8FC0-73E976BB125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5379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5957-AF18-6D45-8FC0-73E976BB125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4392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5957-AF18-6D45-8FC0-73E976BB125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294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F29B1-0379-1946-824E-8BADF04A3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C0662-F7B2-0747-9F01-7E9EB47CA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BB53D-DD3C-D345-83F1-7D2887F6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6DAFF-E5FE-A948-A31C-07193BC9BADE}" type="datetime1">
              <a:rPr lang="it-IT" smtClean="0"/>
              <a:t>29/06/21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76C5A-D101-E641-AE19-04259E1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6D30-4484-1940-8F7F-996C44063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4332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46F1-9827-C348-9562-723B31E9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C094C-5BF4-D846-8B1F-23116ACF9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AC493-89D1-A64B-997F-62089423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9E67B-E26D-E442-8886-632885129DCE}" type="datetime1">
              <a:rPr lang="it-IT" smtClean="0"/>
              <a:t>29/06/21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55855-B958-B649-A5B3-47499D91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46581-18A4-C547-8A3A-91CADA4B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636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940E-6D0D-894D-8C40-6024C01FD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9D636-D0B1-944E-AA7D-195F24BF7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98821-722B-8B48-94A7-9EEBF48BB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2997-5192-FE4A-AD8C-8E4BE96F90CC}" type="datetime1">
              <a:rPr lang="it-IT" smtClean="0"/>
              <a:t>29/06/21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9B4C3-5F09-494F-BDC4-9811EEDB9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88C27-2BFF-B047-B15B-6A7E90F1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1646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7BF1-C9BF-764C-83C5-8388E824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1EF26-6EA1-3F4D-A302-1B8BA6807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0F076-6E2E-F740-9790-B602FBF5D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7F63A-421F-3042-B53C-7AE987D8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A8F3E-C50C-3A49-BA58-1D3A7824141D}" type="datetime1">
              <a:rPr lang="it-IT" smtClean="0"/>
              <a:t>29/06/21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00837-C466-9C41-8970-F7C4969E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EF3F6-EEEC-B244-9B02-1C81C7CC6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1449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3ACD-3436-E34E-8E8E-8739F827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829D8-111A-9C4B-98DE-C7F69EB85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1B192-489F-1C47-8844-5DD166B68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364E8-1066-724B-89FD-101148C99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A71-12CB-B748-89D0-E7B8CCE04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32107-00BB-9A4F-ABB2-CD75B3834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5143-5513-5648-B25D-D9ACA369844F}" type="datetime1">
              <a:rPr lang="it-IT" smtClean="0"/>
              <a:t>29/06/21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EF1A6-FFF5-F94B-8788-AED7A009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8C5F8F-9F37-FE4C-9A87-802F7E2D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2854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D87E4-E15D-2140-9A34-4CF3F488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11556-4FB4-7E46-BA93-85398792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311D6-25BE-FB4C-8EE3-34FAFCFF972A}" type="datetime1">
              <a:rPr lang="it-IT" smtClean="0"/>
              <a:t>29/06/21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D5819-BC6C-F44C-98E3-913B6912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13242-1176-AE4A-A54B-32660239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569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B2721-1972-F146-AEDE-0C140F614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9ED8-2999-DC49-833B-D16997A6050B}" type="datetime1">
              <a:rPr lang="it-IT" smtClean="0"/>
              <a:t>29/06/21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77E80-496A-8B4A-BD20-9ACBED93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638E9-AC93-CD47-9CEC-F4B74A40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377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1CD3-984E-6F48-8DCF-0641F7E28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E26EC-FDC1-2247-A6D0-3C66EBCCC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B2F5B-53D0-7E4F-89B9-A5DEA2C6E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0CCA3-3378-4B4D-AD30-5B69C16E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0AFF-3002-C84F-B4A3-E75D1879D650}" type="datetime1">
              <a:rPr lang="it-IT" smtClean="0"/>
              <a:t>29/06/21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6A42A-A12A-D34B-810E-CD29670F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F5541-E5DC-F440-98E5-60213D6F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948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9525-6B18-5A4F-944F-4806876A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1FBDB-68D1-CD4C-8583-CE46B947D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227DA-0EFC-2D45-B369-547C6B6C1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1966-5A30-344F-A3F9-41A24C7B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0383-C580-C942-91D3-8CD07D73748B}" type="datetime1">
              <a:rPr lang="it-IT" smtClean="0"/>
              <a:t>29/06/21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B9EE1-969E-EF42-9C95-0A760222B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7DC1C-FA15-F44C-944D-05D29A37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56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C4B3-AC8A-8940-B06C-07C65015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AF202-095F-7D46-AB55-2FDF26C17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B813C-9395-764F-82AF-00F23F10E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C8630-D592-4E49-9663-38113B3A8CBB}" type="datetime1">
              <a:rPr lang="it-IT" smtClean="0"/>
              <a:t>29/06/21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E48F2-E25A-344B-BC92-43896311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95EE0-7C29-0E43-B342-810D90D8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970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91584-9B43-3042-9FF9-87348179E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F2E28-2AC6-AE45-B1FD-8B839BE95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864BD-F21B-874B-B34B-14E9A096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5BCF-27D2-0349-A03D-22454073DF56}" type="datetime1">
              <a:rPr lang="it-IT" smtClean="0"/>
              <a:t>29/06/21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218FA-709A-A04F-BD88-BD3D981E6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3D30B-834E-F344-9C19-A07E1AF0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766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480EA9-F115-954E-B23F-4C8A9C24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7CBC5-41B1-A54D-AD11-32178C9C6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A7585-F99A-ED45-8B97-B2312FA92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11CA1-82C7-0646-9652-14C0366D52A2}" type="datetime1">
              <a:rPr lang="it-IT" smtClean="0"/>
              <a:t>29/06/21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B3FAA-E5CA-BB4D-B6DC-304FB340D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74E50-1D77-9D4B-92C6-EAC89FE36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07AF4-33C4-DF40-BD35-845A4C66D42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0213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3.xml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customXml" Target="../ink/ink2.xml"/><Relationship Id="rId5" Type="http://schemas.openxmlformats.org/officeDocument/2006/relationships/image" Target="../media/image16.png"/><Relationship Id="rId15" Type="http://schemas.openxmlformats.org/officeDocument/2006/relationships/customXml" Target="../ink/ink4.xml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customXml" Target="../ink/ink1.xml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6C01-C3D6-1D4A-A283-DCF4C06D5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054" y="2674635"/>
            <a:ext cx="10066713" cy="1148115"/>
          </a:xfrm>
        </p:spPr>
        <p:txBody>
          <a:bodyPr>
            <a:noAutofit/>
          </a:bodyPr>
          <a:lstStyle/>
          <a:p>
            <a:pPr algn="l"/>
            <a:r>
              <a:rPr lang="it-IT" sz="3600" dirty="0">
                <a:ea typeface="Hiragino Kaku Gothic Std W8" panose="020B0800000000000000" pitchFamily="34" charset="-128"/>
                <a:cs typeface="Sathu" pitchFamily="2" charset="-34"/>
              </a:rPr>
              <a:t>Impact of Double </a:t>
            </a:r>
            <a:r>
              <a:rPr lang="it-IT" sz="3600" dirty="0" err="1">
                <a:ea typeface="Hiragino Kaku Gothic Std W8" panose="020B0800000000000000" pitchFamily="34" charset="-128"/>
                <a:cs typeface="Sathu" pitchFamily="2" charset="-34"/>
              </a:rPr>
              <a:t>Taxation</a:t>
            </a:r>
            <a:r>
              <a:rPr lang="it-IT" sz="3600" dirty="0">
                <a:ea typeface="Hiragino Kaku Gothic Std W8" panose="020B0800000000000000" pitchFamily="34" charset="-128"/>
                <a:cs typeface="Sathu" pitchFamily="2" charset="-34"/>
              </a:rPr>
              <a:t> </a:t>
            </a:r>
            <a:r>
              <a:rPr lang="it-IT" sz="3600" dirty="0" err="1">
                <a:ea typeface="Hiragino Kaku Gothic Std W8" panose="020B0800000000000000" pitchFamily="34" charset="-128"/>
                <a:cs typeface="Sathu" pitchFamily="2" charset="-34"/>
              </a:rPr>
              <a:t>Treaties</a:t>
            </a:r>
            <a:r>
              <a:rPr lang="it-IT" sz="3600" dirty="0">
                <a:ea typeface="Hiragino Kaku Gothic Std W8" panose="020B0800000000000000" pitchFamily="34" charset="-128"/>
                <a:cs typeface="Sathu" pitchFamily="2" charset="-34"/>
              </a:rPr>
              <a:t> on </a:t>
            </a:r>
            <a:r>
              <a:rPr lang="it-IT" sz="3600" dirty="0" err="1">
                <a:ea typeface="Hiragino Kaku Gothic Std W8" panose="020B0800000000000000" pitchFamily="34" charset="-128"/>
                <a:cs typeface="Sathu" pitchFamily="2" charset="-34"/>
              </a:rPr>
              <a:t>Foreign</a:t>
            </a:r>
            <a:r>
              <a:rPr lang="it-IT" sz="3600" dirty="0">
                <a:ea typeface="Hiragino Kaku Gothic Std W8" panose="020B0800000000000000" pitchFamily="34" charset="-128"/>
                <a:cs typeface="Sathu" pitchFamily="2" charset="-34"/>
              </a:rPr>
              <a:t> Direct </a:t>
            </a:r>
            <a:r>
              <a:rPr lang="it-IT" sz="3600" dirty="0" err="1">
                <a:ea typeface="Hiragino Kaku Gothic Std W8" panose="020B0800000000000000" pitchFamily="34" charset="-128"/>
                <a:cs typeface="Sathu" pitchFamily="2" charset="-34"/>
              </a:rPr>
              <a:t>Investment</a:t>
            </a:r>
            <a:r>
              <a:rPr lang="it-IT" sz="3600" dirty="0">
                <a:ea typeface="Hiragino Kaku Gothic Std W8" panose="020B0800000000000000" pitchFamily="34" charset="-128"/>
                <a:cs typeface="Sathu" pitchFamily="2" charset="-34"/>
              </a:rPr>
              <a:t>: </a:t>
            </a:r>
            <a:r>
              <a:rPr lang="it-IT" sz="3600" dirty="0" err="1">
                <a:ea typeface="Hiragino Kaku Gothic Std W8" panose="020B0800000000000000" pitchFamily="34" charset="-128"/>
                <a:cs typeface="Sathu" pitchFamily="2" charset="-34"/>
              </a:rPr>
              <a:t>Evidence</a:t>
            </a:r>
            <a:r>
              <a:rPr lang="it-IT" sz="3600" dirty="0">
                <a:ea typeface="Hiragino Kaku Gothic Std W8" panose="020B0800000000000000" pitchFamily="34" charset="-128"/>
                <a:cs typeface="Sathu" pitchFamily="2" charset="-34"/>
              </a:rPr>
              <a:t> from large </a:t>
            </a:r>
            <a:r>
              <a:rPr lang="it-IT" sz="3600" dirty="0" err="1">
                <a:ea typeface="Hiragino Kaku Gothic Std W8" panose="020B0800000000000000" pitchFamily="34" charset="-128"/>
                <a:cs typeface="Sathu" pitchFamily="2" charset="-34"/>
              </a:rPr>
              <a:t>dyadic</a:t>
            </a:r>
            <a:r>
              <a:rPr lang="it-IT" sz="3600" dirty="0">
                <a:ea typeface="Hiragino Kaku Gothic Std W8" panose="020B0800000000000000" pitchFamily="34" charset="-128"/>
                <a:cs typeface="Sathu" pitchFamily="2" charset="-34"/>
              </a:rPr>
              <a:t> panel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152D2-421A-4A40-9473-3E1721FE9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54" y="5094572"/>
            <a:ext cx="2476500" cy="468916"/>
          </a:xfrm>
        </p:spPr>
        <p:txBody>
          <a:bodyPr/>
          <a:lstStyle/>
          <a:p>
            <a:pPr algn="l"/>
            <a:r>
              <a:rPr lang="it-IT" dirty="0">
                <a:latin typeface="+mj-lt"/>
              </a:rPr>
              <a:t>Lisa Fadelli</a:t>
            </a:r>
          </a:p>
        </p:txBody>
      </p:sp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F68CD66-B90D-5247-91D7-DBA3FCF50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0166" y="-350667"/>
            <a:ext cx="3664940" cy="16992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35A319-E38C-6946-882F-F0A2615348EB}"/>
              </a:ext>
            </a:extLst>
          </p:cNvPr>
          <p:cNvCxnSpPr>
            <a:cxnSpLocks/>
          </p:cNvCxnSpPr>
          <p:nvPr/>
        </p:nvCxnSpPr>
        <p:spPr>
          <a:xfrm>
            <a:off x="-20785" y="1142997"/>
            <a:ext cx="12212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0E73F759-B415-EF48-BC1E-218C6A0B2214}"/>
              </a:ext>
            </a:extLst>
          </p:cNvPr>
          <p:cNvSpPr txBox="1">
            <a:spLocks/>
          </p:cNvSpPr>
          <p:nvPr/>
        </p:nvSpPr>
        <p:spPr>
          <a:xfrm>
            <a:off x="303587" y="4201779"/>
            <a:ext cx="3242106" cy="38862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 err="1">
                <a:latin typeface="+mj-lt"/>
              </a:rPr>
              <a:t>Barthel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F</a:t>
            </a:r>
            <a:r>
              <a:rPr lang="it-IT" dirty="0">
                <a:latin typeface="+mj-lt"/>
              </a:rPr>
              <a:t>., Busse M., </a:t>
            </a:r>
            <a:r>
              <a:rPr lang="it-IT" dirty="0" err="1">
                <a:latin typeface="+mj-lt"/>
              </a:rPr>
              <a:t>Neumayer</a:t>
            </a:r>
            <a:r>
              <a:rPr lang="it-IT" dirty="0">
                <a:latin typeface="+mj-lt"/>
              </a:rPr>
              <a:t> E.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2CE8765-D5C3-CC46-80F2-94BB51D97EA3}"/>
              </a:ext>
            </a:extLst>
          </p:cNvPr>
          <p:cNvSpPr txBox="1">
            <a:spLocks/>
          </p:cNvSpPr>
          <p:nvPr/>
        </p:nvSpPr>
        <p:spPr>
          <a:xfrm>
            <a:off x="324054" y="2105794"/>
            <a:ext cx="2476500" cy="468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>
                <a:latin typeface="+mj-lt"/>
              </a:rPr>
              <a:t>Replication </a:t>
            </a:r>
            <a:r>
              <a:rPr lang="it-IT" dirty="0" err="1">
                <a:latin typeface="+mj-lt"/>
              </a:rPr>
              <a:t>Paper</a:t>
            </a:r>
            <a:endParaRPr lang="it-IT" dirty="0">
              <a:latin typeface="+mj-lt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093399F-CAC3-954D-9BF9-9DEAD4D54C6B}"/>
              </a:ext>
            </a:extLst>
          </p:cNvPr>
          <p:cNvSpPr txBox="1">
            <a:spLocks/>
          </p:cNvSpPr>
          <p:nvPr/>
        </p:nvSpPr>
        <p:spPr>
          <a:xfrm>
            <a:off x="324054" y="5983010"/>
            <a:ext cx="2476500" cy="468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>
                <a:latin typeface="+mj-lt"/>
              </a:rPr>
              <a:t>30th </a:t>
            </a:r>
            <a:r>
              <a:rPr lang="it-IT" dirty="0" err="1">
                <a:latin typeface="+mj-lt"/>
              </a:rPr>
              <a:t>June</a:t>
            </a:r>
            <a:r>
              <a:rPr lang="it-IT" dirty="0">
                <a:latin typeface="+mj-lt"/>
              </a:rPr>
              <a:t> 2021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D9A03EE-0955-9048-9C03-C95241504CC2}"/>
              </a:ext>
            </a:extLst>
          </p:cNvPr>
          <p:cNvSpPr txBox="1">
            <a:spLocks/>
          </p:cNvSpPr>
          <p:nvPr/>
        </p:nvSpPr>
        <p:spPr>
          <a:xfrm>
            <a:off x="324054" y="1471339"/>
            <a:ext cx="4364678" cy="3580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>
                <a:latin typeface="+mj-lt"/>
              </a:rPr>
              <a:t>Panel Data </a:t>
            </a:r>
            <a:r>
              <a:rPr lang="it-IT" dirty="0" err="1">
                <a:latin typeface="+mj-lt"/>
              </a:rPr>
              <a:t>Econometrics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using</a:t>
            </a:r>
            <a:r>
              <a:rPr lang="it-IT" dirty="0">
                <a:latin typeface="+mj-lt"/>
              </a:rPr>
              <a:t> Stata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6F88507-609E-C441-94E5-2E6B13B5E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6973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3F30-EDF3-124A-9207-1E9CFA67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734" y="873319"/>
            <a:ext cx="6968987" cy="45719"/>
          </a:xfrm>
        </p:spPr>
        <p:txBody>
          <a:bodyPr>
            <a:noAutofit/>
          </a:bodyPr>
          <a:lstStyle/>
          <a:p>
            <a:r>
              <a:rPr lang="it-IT" sz="3200" dirty="0">
                <a:solidFill>
                  <a:srgbClr val="0070C0"/>
                </a:solidFill>
              </a:rPr>
              <a:t>MOTIVATION AND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0E96-9A6F-9C47-945A-962BEEE66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528150"/>
            <a:ext cx="11364685" cy="49216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000" b="1" dirty="0">
                <a:latin typeface="+mj-lt"/>
              </a:rPr>
              <a:t>DTT Double </a:t>
            </a:r>
            <a:r>
              <a:rPr lang="it-IT" sz="2000" b="1" dirty="0" err="1">
                <a:latin typeface="+mj-lt"/>
              </a:rPr>
              <a:t>Taxation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dirty="0" err="1">
                <a:latin typeface="+mj-lt"/>
              </a:rPr>
              <a:t>Treaty</a:t>
            </a:r>
            <a:r>
              <a:rPr lang="it-IT" sz="2000" b="1" dirty="0"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it-IT" sz="2000" dirty="0">
                <a:latin typeface="+mj-lt"/>
              </a:rPr>
              <a:t>= </a:t>
            </a:r>
            <a:r>
              <a:rPr lang="it-IT" sz="2000" dirty="0" err="1">
                <a:latin typeface="+mj-lt"/>
              </a:rPr>
              <a:t>imposition</a:t>
            </a:r>
            <a:r>
              <a:rPr lang="it-IT" sz="2000" dirty="0">
                <a:latin typeface="+mj-lt"/>
              </a:rPr>
              <a:t> of </a:t>
            </a:r>
            <a:r>
              <a:rPr lang="it-IT" sz="2000" dirty="0" err="1">
                <a:latin typeface="+mj-lt"/>
              </a:rPr>
              <a:t>comparable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taxes</a:t>
            </a:r>
            <a:r>
              <a:rPr lang="it-IT" sz="2000" dirty="0">
                <a:latin typeface="+mj-lt"/>
              </a:rPr>
              <a:t> in </a:t>
            </a:r>
            <a:r>
              <a:rPr lang="it-IT" sz="2000" dirty="0" err="1">
                <a:latin typeface="+mj-lt"/>
              </a:rPr>
              <a:t>two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countries</a:t>
            </a:r>
            <a:r>
              <a:rPr lang="it-IT" sz="2000" dirty="0">
                <a:latin typeface="+mj-lt"/>
              </a:rPr>
              <a:t> on the </a:t>
            </a:r>
            <a:r>
              <a:rPr lang="it-IT" sz="2000" dirty="0" err="1">
                <a:latin typeface="+mj-lt"/>
              </a:rPr>
              <a:t>same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taxpayer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concerning</a:t>
            </a:r>
            <a:r>
              <a:rPr lang="it-IT" sz="2000" dirty="0">
                <a:latin typeface="+mj-lt"/>
              </a:rPr>
              <a:t> the </a:t>
            </a:r>
            <a:r>
              <a:rPr lang="it-IT" sz="2000" dirty="0" err="1">
                <a:latin typeface="+mj-lt"/>
              </a:rPr>
              <a:t>same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subject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matter</a:t>
            </a:r>
            <a:r>
              <a:rPr lang="it-IT" sz="2000" dirty="0">
                <a:latin typeface="+mj-lt"/>
              </a:rPr>
              <a:t> and for </a:t>
            </a:r>
            <a:r>
              <a:rPr lang="it-IT" sz="2000" dirty="0" err="1">
                <a:latin typeface="+mj-lt"/>
              </a:rPr>
              <a:t>identical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periods</a:t>
            </a:r>
            <a:endParaRPr lang="it-IT" sz="2000" dirty="0">
              <a:latin typeface="+mj-lt"/>
            </a:endParaRPr>
          </a:p>
          <a:p>
            <a:pPr marL="0" indent="0">
              <a:buNone/>
            </a:pPr>
            <a:endParaRPr lang="it-IT" sz="2000" dirty="0">
              <a:latin typeface="+mj-lt"/>
            </a:endParaRPr>
          </a:p>
          <a:p>
            <a:pPr marL="0" indent="0">
              <a:buNone/>
            </a:pPr>
            <a:r>
              <a:rPr lang="it-IT" sz="2000" b="1" dirty="0" err="1">
                <a:latin typeface="+mj-lt"/>
              </a:rPr>
              <a:t>Research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dirty="0" err="1">
                <a:latin typeface="+mj-lt"/>
              </a:rPr>
              <a:t>question</a:t>
            </a:r>
            <a:r>
              <a:rPr lang="it-IT" sz="2000" b="1" dirty="0">
                <a:latin typeface="+mj-lt"/>
              </a:rPr>
              <a:t>:</a:t>
            </a:r>
          </a:p>
          <a:p>
            <a:pPr marL="0" indent="0">
              <a:buNone/>
            </a:pPr>
            <a:r>
              <a:rPr lang="it-IT" sz="2000" i="1" dirty="0" err="1">
                <a:latin typeface="+mj-lt"/>
              </a:rPr>
              <a:t>Does</a:t>
            </a:r>
            <a:r>
              <a:rPr lang="it-IT" sz="2000" i="1" dirty="0">
                <a:latin typeface="+mj-lt"/>
              </a:rPr>
              <a:t> the </a:t>
            </a:r>
            <a:r>
              <a:rPr lang="it-IT" sz="2000" i="1" dirty="0" err="1">
                <a:latin typeface="+mj-lt"/>
              </a:rPr>
              <a:t>implementation</a:t>
            </a:r>
            <a:r>
              <a:rPr lang="it-IT" sz="2000" i="1" dirty="0">
                <a:latin typeface="+mj-lt"/>
              </a:rPr>
              <a:t> of a DTT </a:t>
            </a:r>
            <a:r>
              <a:rPr lang="it-IT" sz="2000" i="1" dirty="0" err="1">
                <a:latin typeface="+mj-lt"/>
              </a:rPr>
              <a:t>lead</a:t>
            </a:r>
            <a:r>
              <a:rPr lang="it-IT" sz="2000" i="1" dirty="0">
                <a:latin typeface="+mj-lt"/>
              </a:rPr>
              <a:t> to a </a:t>
            </a:r>
            <a:r>
              <a:rPr lang="it-IT" sz="2000" i="1" dirty="0" err="1">
                <a:latin typeface="+mj-lt"/>
              </a:rPr>
              <a:t>greater</a:t>
            </a:r>
            <a:r>
              <a:rPr lang="it-IT" sz="2000" i="1" dirty="0">
                <a:latin typeface="+mj-lt"/>
              </a:rPr>
              <a:t> </a:t>
            </a:r>
            <a:r>
              <a:rPr lang="it-IT" sz="2000" i="1" dirty="0" err="1">
                <a:latin typeface="+mj-lt"/>
              </a:rPr>
              <a:t>amount</a:t>
            </a:r>
            <a:r>
              <a:rPr lang="it-IT" sz="2000" i="1" dirty="0">
                <a:latin typeface="+mj-lt"/>
              </a:rPr>
              <a:t> of FDI </a:t>
            </a:r>
            <a:r>
              <a:rPr lang="it-IT" sz="2000" i="1" dirty="0" err="1">
                <a:latin typeface="+mj-lt"/>
              </a:rPr>
              <a:t>between</a:t>
            </a:r>
            <a:r>
              <a:rPr lang="it-IT" sz="2000" i="1" dirty="0">
                <a:latin typeface="+mj-lt"/>
              </a:rPr>
              <a:t> the </a:t>
            </a:r>
            <a:r>
              <a:rPr lang="it-IT" sz="2000" i="1" dirty="0" err="1">
                <a:latin typeface="+mj-lt"/>
              </a:rPr>
              <a:t>two</a:t>
            </a:r>
            <a:r>
              <a:rPr lang="it-IT" sz="2000" i="1" dirty="0">
                <a:latin typeface="+mj-lt"/>
              </a:rPr>
              <a:t> </a:t>
            </a:r>
            <a:r>
              <a:rPr lang="it-IT" sz="2000" i="1" dirty="0" err="1">
                <a:latin typeface="+mj-lt"/>
              </a:rPr>
              <a:t>countries</a:t>
            </a:r>
            <a:r>
              <a:rPr lang="it-IT" sz="2000" i="1" dirty="0">
                <a:latin typeface="+mj-lt"/>
              </a:rPr>
              <a:t>?</a:t>
            </a:r>
          </a:p>
          <a:p>
            <a:pPr marL="0" indent="0">
              <a:buNone/>
            </a:pPr>
            <a:r>
              <a:rPr lang="it-IT" sz="2000" dirty="0">
                <a:latin typeface="+mj-lt"/>
                <a:sym typeface="Wingdings" pitchFamily="2" charset="2"/>
              </a:rPr>
              <a:t>  The benefits </a:t>
            </a:r>
            <a:r>
              <a:rPr lang="it-IT" sz="2000" dirty="0" err="1">
                <a:latin typeface="+mj-lt"/>
                <a:sym typeface="Wingdings" pitchFamily="2" charset="2"/>
              </a:rPr>
              <a:t>associated</a:t>
            </a:r>
            <a:r>
              <a:rPr lang="it-IT" sz="2000" dirty="0">
                <a:latin typeface="+mj-lt"/>
                <a:sym typeface="Wingdings" pitchFamily="2" charset="2"/>
              </a:rPr>
              <a:t> </a:t>
            </a:r>
            <a:r>
              <a:rPr lang="it-IT" sz="2000" dirty="0" err="1">
                <a:latin typeface="+mj-lt"/>
                <a:sym typeface="Wingdings" pitchFamily="2" charset="2"/>
              </a:rPr>
              <a:t>would</a:t>
            </a:r>
            <a:r>
              <a:rPr lang="it-IT" sz="2000" dirty="0">
                <a:latin typeface="+mj-lt"/>
                <a:sym typeface="Wingdings" pitchFamily="2" charset="2"/>
              </a:rPr>
              <a:t> </a:t>
            </a:r>
            <a:r>
              <a:rPr lang="it-IT" sz="2000" dirty="0" err="1">
                <a:latin typeface="+mj-lt"/>
                <a:sym typeface="Wingdings" pitchFamily="2" charset="2"/>
              </a:rPr>
              <a:t>outweight</a:t>
            </a:r>
            <a:r>
              <a:rPr lang="it-IT" sz="2000" dirty="0">
                <a:latin typeface="+mj-lt"/>
                <a:sym typeface="Wingdings" pitchFamily="2" charset="2"/>
              </a:rPr>
              <a:t> the </a:t>
            </a:r>
            <a:r>
              <a:rPr lang="it-IT" sz="2000" dirty="0" err="1">
                <a:latin typeface="+mj-lt"/>
                <a:sym typeface="Wingdings" pitchFamily="2" charset="2"/>
              </a:rPr>
              <a:t>costs</a:t>
            </a:r>
            <a:endParaRPr lang="it-IT" sz="2000" dirty="0">
              <a:latin typeface="+mj-lt"/>
            </a:endParaRPr>
          </a:p>
          <a:p>
            <a:pPr marL="0" indent="0">
              <a:buNone/>
            </a:pPr>
            <a:endParaRPr lang="it-IT" sz="2000" i="1" dirty="0">
              <a:latin typeface="+mj-lt"/>
            </a:endParaRPr>
          </a:p>
          <a:p>
            <a:pPr marL="0" indent="0">
              <a:buNone/>
            </a:pPr>
            <a:r>
              <a:rPr lang="it-IT" sz="2000" dirty="0" err="1">
                <a:latin typeface="+mj-lt"/>
              </a:rPr>
              <a:t>Advantages</a:t>
            </a:r>
            <a:r>
              <a:rPr lang="it-IT" sz="2000" dirty="0">
                <a:latin typeface="+mj-lt"/>
              </a:rPr>
              <a:t> of the Double </a:t>
            </a:r>
            <a:r>
              <a:rPr lang="it-IT" sz="2000" dirty="0" err="1">
                <a:latin typeface="+mj-lt"/>
              </a:rPr>
              <a:t>Taxation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Treaties</a:t>
            </a:r>
            <a:r>
              <a:rPr lang="it-IT" sz="2000" dirty="0">
                <a:latin typeface="+mj-lt"/>
              </a:rPr>
              <a:t>:</a:t>
            </a:r>
          </a:p>
          <a:p>
            <a:pPr>
              <a:buFontTx/>
              <a:buChar char="-"/>
            </a:pPr>
            <a:r>
              <a:rPr lang="it-IT" sz="2000" dirty="0">
                <a:latin typeface="+mj-lt"/>
              </a:rPr>
              <a:t>Help to </a:t>
            </a:r>
            <a:r>
              <a:rPr lang="it-IT" sz="2000" dirty="0" err="1">
                <a:latin typeface="+mj-lt"/>
              </a:rPr>
              <a:t>combat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tax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evasion</a:t>
            </a:r>
            <a:r>
              <a:rPr lang="it-IT" sz="2000" dirty="0">
                <a:latin typeface="+mj-lt"/>
              </a:rPr>
              <a:t> and </a:t>
            </a:r>
            <a:r>
              <a:rPr lang="it-IT" sz="2000" dirty="0" err="1">
                <a:latin typeface="+mj-lt"/>
              </a:rPr>
              <a:t>avoidance</a:t>
            </a:r>
            <a:endParaRPr lang="it-IT" sz="2000" dirty="0">
              <a:latin typeface="+mj-lt"/>
            </a:endParaRPr>
          </a:p>
          <a:p>
            <a:pPr>
              <a:buFontTx/>
              <a:buChar char="-"/>
            </a:pPr>
            <a:r>
              <a:rPr lang="it-IT" sz="2000" dirty="0" err="1">
                <a:latin typeface="+mj-lt"/>
              </a:rPr>
              <a:t>Make</a:t>
            </a:r>
            <a:r>
              <a:rPr lang="it-IT" sz="2000" dirty="0">
                <a:latin typeface="+mj-lt"/>
              </a:rPr>
              <a:t> information </a:t>
            </a:r>
            <a:r>
              <a:rPr lang="it-IT" sz="2000" dirty="0" err="1">
                <a:latin typeface="+mj-lt"/>
              </a:rPr>
              <a:t>available</a:t>
            </a:r>
            <a:r>
              <a:rPr lang="it-IT" sz="2000" dirty="0">
                <a:latin typeface="+mj-lt"/>
              </a:rPr>
              <a:t> for </a:t>
            </a:r>
            <a:r>
              <a:rPr lang="it-IT" sz="2000" dirty="0" err="1">
                <a:latin typeface="+mj-lt"/>
              </a:rPr>
              <a:t>both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countries</a:t>
            </a:r>
            <a:endParaRPr lang="it-IT" sz="2000" dirty="0">
              <a:latin typeface="+mj-lt"/>
            </a:endParaRPr>
          </a:p>
          <a:p>
            <a:pPr>
              <a:buFontTx/>
              <a:buChar char="-"/>
            </a:pPr>
            <a:r>
              <a:rPr lang="it-IT" sz="2000" dirty="0">
                <a:latin typeface="+mj-lt"/>
              </a:rPr>
              <a:t>Mitigate the </a:t>
            </a:r>
            <a:r>
              <a:rPr lang="it-IT" sz="2000" dirty="0" err="1">
                <a:latin typeface="+mj-lt"/>
              </a:rPr>
              <a:t>uncertainty</a:t>
            </a:r>
            <a:r>
              <a:rPr lang="it-IT" sz="2000" dirty="0">
                <a:latin typeface="+mj-lt"/>
              </a:rPr>
              <a:t> in </a:t>
            </a:r>
            <a:r>
              <a:rPr lang="it-IT" sz="2000" dirty="0" err="1">
                <a:latin typeface="+mj-lt"/>
              </a:rPr>
              <a:t>investing</a:t>
            </a:r>
            <a:endParaRPr lang="it-IT" sz="2000" dirty="0">
              <a:latin typeface="+mj-lt"/>
            </a:endParaRPr>
          </a:p>
          <a:p>
            <a:pPr marL="0" indent="0">
              <a:buNone/>
            </a:pPr>
            <a:r>
              <a:rPr lang="it-IT" sz="2000" dirty="0">
                <a:latin typeface="+mj-lt"/>
                <a:sym typeface="Wingdings" pitchFamily="2" charset="2"/>
              </a:rPr>
              <a:t> </a:t>
            </a:r>
            <a:r>
              <a:rPr lang="it-IT" sz="2000" dirty="0" err="1">
                <a:latin typeface="+mj-lt"/>
              </a:rPr>
              <a:t>Encourage</a:t>
            </a:r>
            <a:r>
              <a:rPr lang="it-IT" sz="2000" dirty="0">
                <a:latin typeface="+mj-lt"/>
              </a:rPr>
              <a:t> FDI</a:t>
            </a:r>
          </a:p>
          <a:p>
            <a:pPr marL="0" indent="0">
              <a:buNone/>
            </a:pPr>
            <a:endParaRPr lang="it-IT" sz="2000" dirty="0">
              <a:latin typeface="+mj-lt"/>
            </a:endParaRPr>
          </a:p>
          <a:p>
            <a:pPr marL="0" indent="0">
              <a:buNone/>
            </a:pPr>
            <a:endParaRPr lang="it-IT" sz="2000" dirty="0">
              <a:latin typeface="+mj-lt"/>
            </a:endParaRPr>
          </a:p>
        </p:txBody>
      </p:sp>
      <p:pic>
        <p:nvPicPr>
          <p:cNvPr id="4" name="Picture 3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6669C8C-E647-D64C-8251-05C260B6A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0166" y="-350667"/>
            <a:ext cx="3664940" cy="1699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9C527-47BA-9143-9D79-5D24A9349427}"/>
              </a:ext>
            </a:extLst>
          </p:cNvPr>
          <p:cNvCxnSpPr>
            <a:cxnSpLocks/>
          </p:cNvCxnSpPr>
          <p:nvPr/>
        </p:nvCxnSpPr>
        <p:spPr>
          <a:xfrm>
            <a:off x="0" y="1133785"/>
            <a:ext cx="12212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B2882-C2D0-2943-B4D7-293C4C9F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363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3F30-EDF3-124A-9207-1E9CFA67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1" y="3424910"/>
            <a:ext cx="1992086" cy="642936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0E96-9A6F-9C47-945A-962BEEE66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704363"/>
            <a:ext cx="10941899" cy="1492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>
                <a:latin typeface="+mj-lt"/>
              </a:rPr>
              <a:t>The </a:t>
            </a:r>
            <a:r>
              <a:rPr lang="it-IT" sz="2000" dirty="0" err="1">
                <a:latin typeface="+mj-lt"/>
              </a:rPr>
              <a:t>authors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tested</a:t>
            </a:r>
            <a:r>
              <a:rPr lang="it-IT" sz="2000" dirty="0">
                <a:latin typeface="+mj-lt"/>
              </a:rPr>
              <a:t> the </a:t>
            </a:r>
            <a:r>
              <a:rPr lang="it-IT" sz="2000" dirty="0" err="1">
                <a:latin typeface="+mj-lt"/>
              </a:rPr>
              <a:t>effect</a:t>
            </a:r>
            <a:r>
              <a:rPr lang="it-IT" sz="2000" dirty="0">
                <a:latin typeface="+mj-lt"/>
              </a:rPr>
              <a:t> of </a:t>
            </a:r>
            <a:r>
              <a:rPr lang="it-IT" sz="2000" dirty="0" err="1">
                <a:latin typeface="+mj-lt"/>
              </a:rPr>
              <a:t>DTTs</a:t>
            </a:r>
            <a:r>
              <a:rPr lang="it-IT" sz="2000" dirty="0">
                <a:latin typeface="+mj-lt"/>
              </a:rPr>
              <a:t> on FDI in a </a:t>
            </a:r>
            <a:r>
              <a:rPr lang="it-IT" sz="2000" dirty="0" err="1">
                <a:latin typeface="+mj-lt"/>
              </a:rPr>
              <a:t>dyadic</a:t>
            </a:r>
            <a:r>
              <a:rPr lang="it-IT" sz="2000" dirty="0">
                <a:latin typeface="+mj-lt"/>
              </a:rPr>
              <a:t> country </a:t>
            </a:r>
            <a:r>
              <a:rPr lang="it-IT" sz="2000" dirty="0" err="1">
                <a:latin typeface="+mj-lt"/>
              </a:rPr>
              <a:t>dataset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involving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both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developed</a:t>
            </a:r>
            <a:r>
              <a:rPr lang="it-IT" sz="2000" dirty="0">
                <a:latin typeface="+mj-lt"/>
              </a:rPr>
              <a:t> and </a:t>
            </a:r>
            <a:r>
              <a:rPr lang="it-IT" sz="2000" dirty="0" err="1">
                <a:latin typeface="+mj-lt"/>
              </a:rPr>
              <a:t>developing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countries</a:t>
            </a:r>
            <a:endParaRPr lang="it-IT" sz="2000" dirty="0">
              <a:latin typeface="+mj-lt"/>
            </a:endParaRPr>
          </a:p>
          <a:p>
            <a:pPr marL="0" indent="0">
              <a:buNone/>
            </a:pPr>
            <a:endParaRPr lang="it-IT" sz="400" dirty="0">
              <a:latin typeface="+mj-lt"/>
            </a:endParaRPr>
          </a:p>
          <a:p>
            <a:pPr marL="0" indent="0">
              <a:buNone/>
            </a:pPr>
            <a:r>
              <a:rPr lang="it-IT" sz="2000" dirty="0">
                <a:latin typeface="+mj-lt"/>
                <a:sym typeface="Wingdings" pitchFamily="2" charset="2"/>
              </a:rPr>
              <a:t> </a:t>
            </a:r>
            <a:r>
              <a:rPr lang="it-IT" sz="2000" dirty="0" err="1">
                <a:latin typeface="+mj-lt"/>
                <a:sym typeface="Wingdings" pitchFamily="2" charset="2"/>
              </a:rPr>
              <a:t>Dyadic</a:t>
            </a:r>
            <a:r>
              <a:rPr lang="it-IT" sz="2000" dirty="0">
                <a:latin typeface="+mj-lt"/>
                <a:sym typeface="Wingdings" pitchFamily="2" charset="2"/>
              </a:rPr>
              <a:t> </a:t>
            </a:r>
            <a:r>
              <a:rPr lang="it-IT" sz="2000" dirty="0" err="1">
                <a:latin typeface="+mj-lt"/>
                <a:sym typeface="Wingdings" pitchFamily="2" charset="2"/>
              </a:rPr>
              <a:t>Fixed</a:t>
            </a:r>
            <a:r>
              <a:rPr lang="it-IT" sz="2000" dirty="0">
                <a:latin typeface="+mj-lt"/>
                <a:sym typeface="Wingdings" pitchFamily="2" charset="2"/>
              </a:rPr>
              <a:t> </a:t>
            </a:r>
            <a:r>
              <a:rPr lang="it-IT" sz="2000" dirty="0" err="1">
                <a:latin typeface="+mj-lt"/>
                <a:sym typeface="Wingdings" pitchFamily="2" charset="2"/>
              </a:rPr>
              <a:t>Effect</a:t>
            </a:r>
            <a:r>
              <a:rPr lang="it-IT" sz="2000" dirty="0">
                <a:latin typeface="+mj-lt"/>
                <a:sym typeface="Wingdings" pitchFamily="2" charset="2"/>
              </a:rPr>
              <a:t> </a:t>
            </a:r>
            <a:r>
              <a:rPr lang="it-IT" sz="2000" dirty="0" err="1">
                <a:latin typeface="+mj-lt"/>
                <a:sym typeface="Wingdings" pitchFamily="2" charset="2"/>
              </a:rPr>
              <a:t>estimation</a:t>
            </a:r>
            <a:r>
              <a:rPr lang="it-IT" sz="2000" dirty="0">
                <a:latin typeface="+mj-lt"/>
                <a:sym typeface="Wingdings" pitchFamily="2" charset="2"/>
              </a:rPr>
              <a:t>  </a:t>
            </a:r>
            <a:endParaRPr lang="it-IT" sz="2000" dirty="0">
              <a:latin typeface="+mj-lt"/>
            </a:endParaRPr>
          </a:p>
          <a:p>
            <a:pPr marL="0" indent="0">
              <a:buNone/>
            </a:pPr>
            <a:endParaRPr lang="it-IT" sz="2000" dirty="0">
              <a:latin typeface="+mj-lt"/>
            </a:endParaRPr>
          </a:p>
        </p:txBody>
      </p:sp>
      <p:pic>
        <p:nvPicPr>
          <p:cNvPr id="4" name="Picture 3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6669C8C-E647-D64C-8251-05C260B6A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0166" y="-350667"/>
            <a:ext cx="3664940" cy="1699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9C527-47BA-9143-9D79-5D24A9349427}"/>
              </a:ext>
            </a:extLst>
          </p:cNvPr>
          <p:cNvCxnSpPr>
            <a:cxnSpLocks/>
          </p:cNvCxnSpPr>
          <p:nvPr/>
        </p:nvCxnSpPr>
        <p:spPr>
          <a:xfrm>
            <a:off x="-20785" y="1142997"/>
            <a:ext cx="12212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21F34A0-C09B-8849-9870-BE430800292A}"/>
              </a:ext>
            </a:extLst>
          </p:cNvPr>
          <p:cNvSpPr txBox="1"/>
          <p:nvPr/>
        </p:nvSpPr>
        <p:spPr>
          <a:xfrm>
            <a:off x="293911" y="4007494"/>
            <a:ext cx="819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+mj-lt"/>
              </a:rPr>
              <a:t>Dependent</a:t>
            </a:r>
            <a:r>
              <a:rPr lang="it-IT" b="1" dirty="0">
                <a:latin typeface="+mj-lt"/>
              </a:rPr>
              <a:t> </a:t>
            </a:r>
            <a:r>
              <a:rPr lang="it-IT" b="1" dirty="0" err="1">
                <a:latin typeface="+mj-lt"/>
              </a:rPr>
              <a:t>variable</a:t>
            </a:r>
            <a:endParaRPr lang="it-IT" b="1" dirty="0">
              <a:latin typeface="+mj-lt"/>
            </a:endParaRPr>
          </a:p>
          <a:p>
            <a:r>
              <a:rPr lang="it-IT" i="1" dirty="0" err="1">
                <a:latin typeface="+mj-lt"/>
              </a:rPr>
              <a:t>lnfdiinstock</a:t>
            </a:r>
            <a:r>
              <a:rPr lang="it-IT" dirty="0">
                <a:latin typeface="+mj-lt"/>
              </a:rPr>
              <a:t> = </a:t>
            </a:r>
            <a:r>
              <a:rPr lang="it-IT" dirty="0" err="1">
                <a:latin typeface="+mj-lt"/>
              </a:rPr>
              <a:t>logarithm</a:t>
            </a:r>
            <a:r>
              <a:rPr lang="it-IT" dirty="0">
                <a:latin typeface="+mj-lt"/>
              </a:rPr>
              <a:t> of the FDI stock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1E25485-CFED-0441-B987-4059D08344E4}"/>
              </a:ext>
            </a:extLst>
          </p:cNvPr>
          <p:cNvSpPr txBox="1">
            <a:spLocks/>
          </p:cNvSpPr>
          <p:nvPr/>
        </p:nvSpPr>
        <p:spPr>
          <a:xfrm>
            <a:off x="293914" y="1174256"/>
            <a:ext cx="1485900" cy="642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dirty="0">
                <a:solidFill>
                  <a:srgbClr val="0070C0"/>
                </a:solidFill>
              </a:rPr>
              <a:t>SAMPLE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99A3F-A49E-3142-92B6-0DD4C7E277F6}"/>
              </a:ext>
            </a:extLst>
          </p:cNvPr>
          <p:cNvSpPr txBox="1"/>
          <p:nvPr/>
        </p:nvSpPr>
        <p:spPr>
          <a:xfrm>
            <a:off x="293911" y="4881493"/>
            <a:ext cx="819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+mj-lt"/>
              </a:rPr>
              <a:t>Explanatory</a:t>
            </a:r>
            <a:r>
              <a:rPr lang="it-IT" b="1" dirty="0">
                <a:latin typeface="+mj-lt"/>
              </a:rPr>
              <a:t> </a:t>
            </a:r>
            <a:r>
              <a:rPr lang="it-IT" b="1" dirty="0" err="1">
                <a:latin typeface="+mj-lt"/>
              </a:rPr>
              <a:t>variable</a:t>
            </a:r>
            <a:r>
              <a:rPr lang="it-IT" b="1" dirty="0">
                <a:latin typeface="+mj-lt"/>
              </a:rPr>
              <a:t> of </a:t>
            </a:r>
            <a:r>
              <a:rPr lang="it-IT" b="1" dirty="0" err="1">
                <a:latin typeface="+mj-lt"/>
              </a:rPr>
              <a:t>interest</a:t>
            </a:r>
            <a:endParaRPr lang="it-IT" b="1" dirty="0">
              <a:latin typeface="+mj-lt"/>
            </a:endParaRPr>
          </a:p>
          <a:p>
            <a:r>
              <a:rPr lang="it-IT" i="1" dirty="0" err="1">
                <a:latin typeface="+mj-lt"/>
              </a:rPr>
              <a:t>dtt</a:t>
            </a:r>
            <a:r>
              <a:rPr lang="it-IT" dirty="0">
                <a:latin typeface="+mj-lt"/>
              </a:rPr>
              <a:t> = </a:t>
            </a:r>
            <a:r>
              <a:rPr lang="it-IT" dirty="0" err="1">
                <a:latin typeface="+mj-lt"/>
              </a:rPr>
              <a:t>presence</a:t>
            </a:r>
            <a:r>
              <a:rPr lang="it-IT" dirty="0">
                <a:latin typeface="+mj-lt"/>
              </a:rPr>
              <a:t> of a DTT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C2C16-FD3C-AA4C-A3F2-79F3FFF3C1E3}"/>
              </a:ext>
            </a:extLst>
          </p:cNvPr>
          <p:cNvSpPr txBox="1"/>
          <p:nvPr/>
        </p:nvSpPr>
        <p:spPr>
          <a:xfrm>
            <a:off x="4672663" y="3979631"/>
            <a:ext cx="81969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+mj-lt"/>
              </a:rPr>
              <a:t>Control </a:t>
            </a:r>
            <a:r>
              <a:rPr lang="it-IT" b="1" dirty="0" err="1">
                <a:latin typeface="+mj-lt"/>
              </a:rPr>
              <a:t>variables</a:t>
            </a:r>
            <a:endParaRPr lang="it-IT" b="1" dirty="0">
              <a:latin typeface="+mj-lt"/>
            </a:endParaRPr>
          </a:p>
          <a:p>
            <a:r>
              <a:rPr lang="it-IT" i="1" dirty="0" err="1">
                <a:latin typeface="+mj-lt"/>
              </a:rPr>
              <a:t>hostgdptotln</a:t>
            </a:r>
            <a:r>
              <a:rPr lang="it-IT" dirty="0">
                <a:latin typeface="+mj-lt"/>
              </a:rPr>
              <a:t> = </a:t>
            </a:r>
            <a:r>
              <a:rPr lang="it-IT" dirty="0" err="1">
                <a:latin typeface="+mj-lt"/>
              </a:rPr>
              <a:t>logarithm</a:t>
            </a:r>
            <a:r>
              <a:rPr lang="it-IT" dirty="0">
                <a:latin typeface="+mj-lt"/>
              </a:rPr>
              <a:t> of </a:t>
            </a:r>
            <a:r>
              <a:rPr lang="it-IT" dirty="0" err="1">
                <a:latin typeface="+mj-lt"/>
              </a:rPr>
              <a:t>total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host</a:t>
            </a:r>
            <a:r>
              <a:rPr lang="it-IT" dirty="0">
                <a:latin typeface="+mj-lt"/>
              </a:rPr>
              <a:t> GDP</a:t>
            </a:r>
          </a:p>
          <a:p>
            <a:r>
              <a:rPr lang="it-IT" i="1" dirty="0" err="1">
                <a:latin typeface="+mj-lt"/>
              </a:rPr>
              <a:t>hostgdppcln</a:t>
            </a:r>
            <a:r>
              <a:rPr lang="it-IT" dirty="0">
                <a:latin typeface="+mj-lt"/>
              </a:rPr>
              <a:t> = </a:t>
            </a:r>
            <a:r>
              <a:rPr lang="it-IT" dirty="0" err="1">
                <a:latin typeface="+mj-lt"/>
              </a:rPr>
              <a:t>logarithm</a:t>
            </a:r>
            <a:r>
              <a:rPr lang="it-IT" dirty="0">
                <a:latin typeface="+mj-lt"/>
              </a:rPr>
              <a:t> of </a:t>
            </a:r>
            <a:r>
              <a:rPr lang="it-IT" dirty="0" err="1">
                <a:latin typeface="+mj-lt"/>
              </a:rPr>
              <a:t>host</a:t>
            </a:r>
            <a:r>
              <a:rPr lang="it-IT" dirty="0">
                <a:latin typeface="+mj-lt"/>
              </a:rPr>
              <a:t> GDP per capita </a:t>
            </a:r>
          </a:p>
          <a:p>
            <a:r>
              <a:rPr lang="it-IT" i="1" dirty="0" err="1">
                <a:latin typeface="+mj-lt"/>
              </a:rPr>
              <a:t>hostinfllpn</a:t>
            </a:r>
            <a:r>
              <a:rPr lang="it-IT" dirty="0">
                <a:latin typeface="+mj-lt"/>
              </a:rPr>
              <a:t> = </a:t>
            </a:r>
            <a:r>
              <a:rPr lang="it-IT" dirty="0" err="1">
                <a:latin typeface="+mj-lt"/>
              </a:rPr>
              <a:t>logarithm</a:t>
            </a:r>
            <a:r>
              <a:rPr lang="it-IT" dirty="0">
                <a:latin typeface="+mj-lt"/>
              </a:rPr>
              <a:t> of the </a:t>
            </a:r>
            <a:r>
              <a:rPr lang="it-IT" dirty="0" err="1">
                <a:latin typeface="+mj-lt"/>
              </a:rPr>
              <a:t>inflation</a:t>
            </a:r>
            <a:r>
              <a:rPr lang="it-IT" dirty="0">
                <a:latin typeface="+mj-lt"/>
              </a:rPr>
              <a:t> rate in the </a:t>
            </a:r>
            <a:r>
              <a:rPr lang="it-IT" dirty="0" err="1">
                <a:latin typeface="+mj-lt"/>
              </a:rPr>
              <a:t>host</a:t>
            </a:r>
            <a:r>
              <a:rPr lang="it-IT" dirty="0">
                <a:latin typeface="+mj-lt"/>
              </a:rPr>
              <a:t> country in %</a:t>
            </a:r>
          </a:p>
          <a:p>
            <a:r>
              <a:rPr lang="it-IT" i="1" dirty="0" err="1">
                <a:latin typeface="+mj-lt"/>
              </a:rPr>
              <a:t>hosttrade</a:t>
            </a:r>
            <a:r>
              <a:rPr lang="it-IT" dirty="0">
                <a:latin typeface="+mj-lt"/>
              </a:rPr>
              <a:t> = ratio of a sum of </a:t>
            </a:r>
            <a:r>
              <a:rPr lang="it-IT" dirty="0" err="1">
                <a:latin typeface="+mj-lt"/>
              </a:rPr>
              <a:t>exports</a:t>
            </a:r>
            <a:r>
              <a:rPr lang="it-IT" dirty="0">
                <a:latin typeface="+mj-lt"/>
              </a:rPr>
              <a:t> and </a:t>
            </a:r>
            <a:r>
              <a:rPr lang="it-IT" dirty="0" err="1">
                <a:latin typeface="+mj-lt"/>
              </a:rPr>
              <a:t>imports</a:t>
            </a:r>
            <a:r>
              <a:rPr lang="it-IT" dirty="0">
                <a:latin typeface="+mj-lt"/>
              </a:rPr>
              <a:t> to GDP in the </a:t>
            </a:r>
            <a:r>
              <a:rPr lang="it-IT" dirty="0" err="1">
                <a:latin typeface="+mj-lt"/>
              </a:rPr>
              <a:t>host</a:t>
            </a:r>
            <a:r>
              <a:rPr lang="it-IT" dirty="0">
                <a:latin typeface="+mj-lt"/>
              </a:rPr>
              <a:t> country</a:t>
            </a:r>
          </a:p>
          <a:p>
            <a:r>
              <a:rPr lang="it-IT" i="1" dirty="0" err="1">
                <a:latin typeface="+mj-lt"/>
              </a:rPr>
              <a:t>rta</a:t>
            </a:r>
            <a:r>
              <a:rPr lang="it-IT" dirty="0">
                <a:latin typeface="+mj-lt"/>
              </a:rPr>
              <a:t> = </a:t>
            </a:r>
            <a:r>
              <a:rPr lang="it-IT" dirty="0" err="1">
                <a:latin typeface="+mj-lt"/>
              </a:rPr>
              <a:t>dummy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variable</a:t>
            </a:r>
            <a:r>
              <a:rPr lang="it-IT" dirty="0">
                <a:latin typeface="+mj-lt"/>
              </a:rPr>
              <a:t> for </a:t>
            </a:r>
            <a:r>
              <a:rPr lang="it-IT" dirty="0" err="1">
                <a:latin typeface="+mj-lt"/>
              </a:rPr>
              <a:t>regional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trade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agreement</a:t>
            </a:r>
            <a:endParaRPr lang="it-IT" dirty="0">
              <a:latin typeface="+mj-lt"/>
            </a:endParaRPr>
          </a:p>
          <a:p>
            <a:r>
              <a:rPr lang="it-IT" i="1" dirty="0">
                <a:latin typeface="+mj-lt"/>
              </a:rPr>
              <a:t>bit</a:t>
            </a:r>
            <a:r>
              <a:rPr lang="it-IT" dirty="0">
                <a:latin typeface="+mj-lt"/>
              </a:rPr>
              <a:t> = </a:t>
            </a:r>
            <a:r>
              <a:rPr lang="it-IT" dirty="0" err="1">
                <a:latin typeface="+mj-lt"/>
              </a:rPr>
              <a:t>binary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variable</a:t>
            </a:r>
            <a:r>
              <a:rPr lang="it-IT" dirty="0">
                <a:latin typeface="+mj-lt"/>
              </a:rPr>
              <a:t>  for </a:t>
            </a:r>
            <a:r>
              <a:rPr lang="it-IT" dirty="0" err="1">
                <a:latin typeface="+mj-lt"/>
              </a:rPr>
              <a:t>bilateral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investment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treaty</a:t>
            </a:r>
            <a:endParaRPr lang="it-IT" dirty="0">
              <a:latin typeface="+mj-lt"/>
            </a:endParaRPr>
          </a:p>
          <a:p>
            <a:r>
              <a:rPr lang="it-IT" i="1" dirty="0" err="1">
                <a:latin typeface="+mj-lt"/>
              </a:rPr>
              <a:t>Year</a:t>
            </a:r>
            <a:r>
              <a:rPr lang="it-IT" i="1" dirty="0">
                <a:latin typeface="+mj-lt"/>
              </a:rPr>
              <a:t> </a:t>
            </a:r>
            <a:r>
              <a:rPr lang="it-IT" i="1" dirty="0" err="1">
                <a:latin typeface="+mj-lt"/>
              </a:rPr>
              <a:t>dummies</a:t>
            </a:r>
            <a:r>
              <a:rPr lang="it-IT" i="1" dirty="0">
                <a:latin typeface="+mj-lt"/>
              </a:rPr>
              <a:t> </a:t>
            </a:r>
            <a:r>
              <a:rPr lang="it-IT" dirty="0">
                <a:latin typeface="+mj-lt"/>
              </a:rPr>
              <a:t>1978 to 2004 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18E3174-1FA2-804F-9447-9C2B828FE1C4}"/>
              </a:ext>
            </a:extLst>
          </p:cNvPr>
          <p:cNvSpPr/>
          <p:nvPr/>
        </p:nvSpPr>
        <p:spPr>
          <a:xfrm>
            <a:off x="3890685" y="2384611"/>
            <a:ext cx="430306" cy="7530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B3710F-414A-9248-ADE9-96B473C00C76}"/>
              </a:ext>
            </a:extLst>
          </p:cNvPr>
          <p:cNvSpPr txBox="1"/>
          <p:nvPr/>
        </p:nvSpPr>
        <p:spPr>
          <a:xfrm>
            <a:off x="4452609" y="2400095"/>
            <a:ext cx="6783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+mj-lt"/>
              </a:rPr>
              <a:t>Source country = </a:t>
            </a:r>
            <a:r>
              <a:rPr lang="it-IT" dirty="0" err="1">
                <a:latin typeface="+mj-lt"/>
              </a:rPr>
              <a:t>where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multinational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enterprises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have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their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domicile</a:t>
            </a:r>
            <a:endParaRPr lang="it-IT" dirty="0">
              <a:latin typeface="+mj-lt"/>
            </a:endParaRPr>
          </a:p>
          <a:p>
            <a:r>
              <a:rPr lang="it-IT" dirty="0">
                <a:latin typeface="+mj-lt"/>
              </a:rPr>
              <a:t>Host country = </a:t>
            </a:r>
            <a:r>
              <a:rPr lang="it-IT" dirty="0" err="1">
                <a:latin typeface="+mj-lt"/>
              </a:rPr>
              <a:t>where</a:t>
            </a:r>
            <a:r>
              <a:rPr lang="it-IT" dirty="0">
                <a:latin typeface="+mj-lt"/>
              </a:rPr>
              <a:t> the </a:t>
            </a:r>
            <a:r>
              <a:rPr lang="it-IT" dirty="0" err="1">
                <a:latin typeface="+mj-lt"/>
              </a:rPr>
              <a:t>FDIs</a:t>
            </a:r>
            <a:r>
              <a:rPr lang="it-IT" dirty="0">
                <a:latin typeface="+mj-lt"/>
              </a:rPr>
              <a:t> take </a:t>
            </a:r>
            <a:r>
              <a:rPr lang="it-IT" dirty="0" err="1">
                <a:latin typeface="+mj-lt"/>
              </a:rPr>
              <a:t>place</a:t>
            </a:r>
            <a:endParaRPr lang="it-IT" dirty="0">
              <a:latin typeface="+mj-lt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D394E76-D8C4-474E-962D-439DA1F1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168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0E96-9A6F-9C47-945A-962BEEE66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79" y="3999504"/>
            <a:ext cx="3978769" cy="942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 err="1">
                <a:latin typeface="+mj-lt"/>
              </a:rPr>
              <a:t>Tends</a:t>
            </a:r>
            <a:r>
              <a:rPr lang="it-IT" sz="1800" dirty="0">
                <a:latin typeface="+mj-lt"/>
              </a:rPr>
              <a:t> to </a:t>
            </a:r>
            <a:r>
              <a:rPr lang="it-IT" sz="1800" dirty="0" err="1">
                <a:latin typeface="+mj-lt"/>
              </a:rPr>
              <a:t>overestimate</a:t>
            </a:r>
            <a:r>
              <a:rPr lang="it-IT" sz="1800" dirty="0">
                <a:latin typeface="+mj-lt"/>
              </a:rPr>
              <a:t> the </a:t>
            </a:r>
            <a:r>
              <a:rPr lang="it-IT" sz="1800" dirty="0" err="1">
                <a:latin typeface="+mj-lt"/>
              </a:rPr>
              <a:t>effect</a:t>
            </a:r>
            <a:r>
              <a:rPr lang="it-IT" sz="1800" dirty="0">
                <a:latin typeface="+mj-lt"/>
              </a:rPr>
              <a:t> of BIT and DTT </a:t>
            </a:r>
            <a:r>
              <a:rPr lang="it-IT" sz="1800" dirty="0" err="1">
                <a:latin typeface="+mj-lt"/>
              </a:rPr>
              <a:t>as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it</a:t>
            </a:r>
            <a:r>
              <a:rPr lang="it-IT" sz="1800" dirty="0">
                <a:latin typeface="+mj-lt"/>
              </a:rPr>
              <a:t> </a:t>
            </a:r>
            <a:r>
              <a:rPr lang="it-IT" sz="1800" dirty="0" err="1">
                <a:latin typeface="+mj-lt"/>
              </a:rPr>
              <a:t>ignores</a:t>
            </a:r>
            <a:r>
              <a:rPr lang="it-IT" sz="1800" dirty="0">
                <a:latin typeface="+mj-lt"/>
              </a:rPr>
              <a:t> the </a:t>
            </a:r>
            <a:r>
              <a:rPr lang="it-IT" sz="1800" dirty="0" err="1">
                <a:latin typeface="+mj-lt"/>
              </a:rPr>
              <a:t>dynamic</a:t>
            </a:r>
            <a:r>
              <a:rPr lang="it-IT" sz="1800" dirty="0">
                <a:latin typeface="+mj-lt"/>
              </a:rPr>
              <a:t> nature of FDI </a:t>
            </a:r>
            <a:r>
              <a:rPr lang="it-IT" sz="1800" dirty="0">
                <a:latin typeface="+mj-lt"/>
                <a:sym typeface="Wingdings" pitchFamily="2" charset="2"/>
              </a:rPr>
              <a:t> </a:t>
            </a:r>
            <a:r>
              <a:rPr lang="it-IT" sz="1800" dirty="0" err="1">
                <a:latin typeface="+mj-lt"/>
                <a:sym typeface="Wingdings" pitchFamily="2" charset="2"/>
              </a:rPr>
              <a:t>biased</a:t>
            </a:r>
            <a:endParaRPr lang="it-IT" sz="1800" dirty="0">
              <a:latin typeface="+mj-lt"/>
              <a:sym typeface="Wingdings" pitchFamily="2" charset="2"/>
            </a:endParaRPr>
          </a:p>
          <a:p>
            <a:pPr marL="0" indent="0">
              <a:buNone/>
            </a:pPr>
            <a:endParaRPr lang="it-IT" sz="1800" dirty="0">
              <a:latin typeface="+mj-lt"/>
              <a:sym typeface="Wingdings" pitchFamily="2" charset="2"/>
            </a:endParaRPr>
          </a:p>
          <a:p>
            <a:pPr marL="0" indent="0">
              <a:buNone/>
            </a:pPr>
            <a:endParaRPr lang="it-IT" sz="1800" dirty="0">
              <a:latin typeface="+mj-lt"/>
              <a:sym typeface="Wingdings" pitchFamily="2" charset="2"/>
            </a:endParaRPr>
          </a:p>
        </p:txBody>
      </p:sp>
      <p:pic>
        <p:nvPicPr>
          <p:cNvPr id="4" name="Picture 3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6669C8C-E647-D64C-8251-05C260B6A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0166" y="-350667"/>
            <a:ext cx="3664940" cy="1699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9C527-47BA-9143-9D79-5D24A9349427}"/>
              </a:ext>
            </a:extLst>
          </p:cNvPr>
          <p:cNvCxnSpPr>
            <a:cxnSpLocks/>
          </p:cNvCxnSpPr>
          <p:nvPr/>
        </p:nvCxnSpPr>
        <p:spPr>
          <a:xfrm>
            <a:off x="-20785" y="1142997"/>
            <a:ext cx="12212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F20D0282-703C-E64B-B187-AA1BE5E6D208}"/>
              </a:ext>
            </a:extLst>
          </p:cNvPr>
          <p:cNvSpPr txBox="1">
            <a:spLocks/>
          </p:cNvSpPr>
          <p:nvPr/>
        </p:nvSpPr>
        <p:spPr>
          <a:xfrm>
            <a:off x="8345021" y="515598"/>
            <a:ext cx="5257800" cy="777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dirty="0">
                <a:solidFill>
                  <a:srgbClr val="0070C0"/>
                </a:solidFill>
              </a:rPr>
              <a:t>ESTIMATION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44346D-6334-814C-9948-60907BE60A68}"/>
              </a:ext>
            </a:extLst>
          </p:cNvPr>
          <p:cNvSpPr txBox="1"/>
          <p:nvPr/>
        </p:nvSpPr>
        <p:spPr>
          <a:xfrm>
            <a:off x="4529528" y="2742638"/>
            <a:ext cx="352268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2000" dirty="0">
                <a:latin typeface="+mj-lt"/>
              </a:rPr>
              <a:t>DYNAMIC FIXED EFFECT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C2337F-7DAB-3641-B6B1-96186C004585}"/>
              </a:ext>
            </a:extLst>
          </p:cNvPr>
          <p:cNvSpPr txBox="1"/>
          <p:nvPr/>
        </p:nvSpPr>
        <p:spPr>
          <a:xfrm>
            <a:off x="499673" y="2760039"/>
            <a:ext cx="326535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2000" dirty="0">
                <a:latin typeface="+mj-lt"/>
              </a:rPr>
              <a:t>STATIC FIXED EFFECT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1AF27-5AC4-A247-9BB3-DB1DF281D9BD}"/>
              </a:ext>
            </a:extLst>
          </p:cNvPr>
          <p:cNvSpPr txBox="1"/>
          <p:nvPr/>
        </p:nvSpPr>
        <p:spPr>
          <a:xfrm>
            <a:off x="8816714" y="2748445"/>
            <a:ext cx="2680741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2000" dirty="0">
                <a:latin typeface="+mj-lt"/>
              </a:rPr>
              <a:t>GMM ARELLANO BOND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328942-870D-F04B-AD4F-3C91A0A685B4}"/>
              </a:ext>
            </a:extLst>
          </p:cNvPr>
          <p:cNvCxnSpPr/>
          <p:nvPr/>
        </p:nvCxnSpPr>
        <p:spPr>
          <a:xfrm>
            <a:off x="2132352" y="3160149"/>
            <a:ext cx="0" cy="839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Left Brace 13">
            <a:extLst>
              <a:ext uri="{FF2B5EF4-FFF2-40B4-BE49-F238E27FC236}">
                <a16:creationId xmlns:a16="http://schemas.microsoft.com/office/drawing/2014/main" id="{2E373571-FC1C-A64E-A3EF-E05F9D82F052}"/>
              </a:ext>
            </a:extLst>
          </p:cNvPr>
          <p:cNvSpPr/>
          <p:nvPr/>
        </p:nvSpPr>
        <p:spPr>
          <a:xfrm rot="16200000">
            <a:off x="7578044" y="1645586"/>
            <a:ext cx="984443" cy="3978768"/>
          </a:xfrm>
          <a:prstGeom prst="leftBrace">
            <a:avLst>
              <a:gd name="adj1" fmla="val 0"/>
              <a:gd name="adj2" fmla="val 51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93FBB5-33C0-7149-A4E5-A8DA3DC57A9A}"/>
              </a:ext>
            </a:extLst>
          </p:cNvPr>
          <p:cNvSpPr txBox="1"/>
          <p:nvPr/>
        </p:nvSpPr>
        <p:spPr>
          <a:xfrm>
            <a:off x="6096000" y="4270931"/>
            <a:ext cx="4198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highlight>
                  <a:srgbClr val="FFFF00"/>
                </a:highlight>
                <a:latin typeface="+mj-lt"/>
              </a:rPr>
              <a:t>DYNAMIC LINEAR PANEL DATA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868903-719E-534F-95A9-9FC51EE549BE}"/>
                  </a:ext>
                </a:extLst>
              </p:cNvPr>
              <p:cNvSpPr/>
              <p:nvPr/>
            </p:nvSpPr>
            <p:spPr>
              <a:xfrm>
                <a:off x="6529151" y="5555675"/>
                <a:ext cx="3332194" cy="381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it-IT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it-IT" i="0">
                          <a:latin typeface="Cambria Math" panose="02040503050406030204" pitchFamily="18" charset="0"/>
                        </a:rPr>
                        <m:t>′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868903-719E-534F-95A9-9FC51EE549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151" y="5555675"/>
                <a:ext cx="3332194" cy="381515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BDF5B2E-9AC5-2649-9406-39DFF77EE69A}"/>
                  </a:ext>
                </a:extLst>
              </p:cNvPr>
              <p:cNvSpPr/>
              <p:nvPr/>
            </p:nvSpPr>
            <p:spPr>
              <a:xfrm>
                <a:off x="6080881" y="5866191"/>
                <a:ext cx="4634667" cy="4633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𝑖𝑡𝑘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,…, 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)′</m:t>
                    </m:r>
                  </m:oMath>
                </a14:m>
                <a:endParaRPr lang="it-IT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BDF5B2E-9AC5-2649-9406-39DFF77EE6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881" y="5866191"/>
                <a:ext cx="4634667" cy="463397"/>
              </a:xfrm>
              <a:prstGeom prst="rect">
                <a:avLst/>
              </a:prstGeom>
              <a:blipFill>
                <a:blip r:embed="rId5"/>
                <a:stretch>
                  <a:fillRect l="-1093" b="-162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DDD40E5-C1A3-774B-9575-950B3C95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4</a:t>
            </a:fld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BE44EF-A512-7B41-824A-B2921276CAC5}"/>
              </a:ext>
            </a:extLst>
          </p:cNvPr>
          <p:cNvSpPr txBox="1"/>
          <p:nvPr/>
        </p:nvSpPr>
        <p:spPr>
          <a:xfrm>
            <a:off x="6096000" y="4942468"/>
            <a:ext cx="4514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C00000"/>
                </a:solidFill>
              </a:rPr>
              <a:t>!! </a:t>
            </a:r>
            <a:r>
              <a:rPr lang="it-IT" sz="2000" dirty="0" err="1">
                <a:solidFill>
                  <a:srgbClr val="C00000"/>
                </a:solidFill>
              </a:rPr>
              <a:t>Endogeneity</a:t>
            </a:r>
            <a:r>
              <a:rPr lang="it-IT" sz="2000" dirty="0">
                <a:solidFill>
                  <a:srgbClr val="C00000"/>
                </a:solidFill>
              </a:rPr>
              <a:t> in the </a:t>
            </a:r>
            <a:r>
              <a:rPr lang="it-IT" sz="2000" dirty="0" err="1">
                <a:solidFill>
                  <a:srgbClr val="C00000"/>
                </a:solidFill>
              </a:rPr>
              <a:t>explanatory</a:t>
            </a:r>
            <a:r>
              <a:rPr lang="it-IT" sz="2000" dirty="0">
                <a:solidFill>
                  <a:srgbClr val="C00000"/>
                </a:solidFill>
              </a:rPr>
              <a:t> </a:t>
            </a:r>
            <a:r>
              <a:rPr lang="it-IT" sz="2000" dirty="0" err="1">
                <a:solidFill>
                  <a:srgbClr val="C00000"/>
                </a:solidFill>
              </a:rPr>
              <a:t>variable</a:t>
            </a:r>
            <a:r>
              <a:rPr lang="it-IT" sz="20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277291-3E16-E44E-BAB5-200B6F9AA286}"/>
              </a:ext>
            </a:extLst>
          </p:cNvPr>
          <p:cNvSpPr txBox="1"/>
          <p:nvPr/>
        </p:nvSpPr>
        <p:spPr>
          <a:xfrm>
            <a:off x="368380" y="1348533"/>
            <a:ext cx="6946820" cy="83099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2400" u="sng" dirty="0" err="1">
                <a:latin typeface="+mj-lt"/>
              </a:rPr>
              <a:t>Purpose</a:t>
            </a:r>
            <a:r>
              <a:rPr lang="it-IT" sz="2400" u="sng" dirty="0">
                <a:latin typeface="+mj-lt"/>
              </a:rPr>
              <a:t> of the </a:t>
            </a:r>
            <a:r>
              <a:rPr lang="it-IT" sz="2400" u="sng" dirty="0" err="1">
                <a:latin typeface="+mj-lt"/>
              </a:rPr>
              <a:t>replication</a:t>
            </a:r>
            <a:r>
              <a:rPr lang="it-IT" sz="2400" u="sng" dirty="0">
                <a:latin typeface="+mj-lt"/>
              </a:rPr>
              <a:t> </a:t>
            </a:r>
            <a:r>
              <a:rPr lang="it-IT" sz="2400" u="sng" dirty="0" err="1">
                <a:latin typeface="+mj-lt"/>
              </a:rPr>
              <a:t>paper</a:t>
            </a:r>
            <a:r>
              <a:rPr lang="it-IT" sz="2400" dirty="0">
                <a:latin typeface="+mj-lt"/>
              </a:rPr>
              <a:t>:</a:t>
            </a:r>
          </a:p>
          <a:p>
            <a:r>
              <a:rPr lang="it-IT" sz="2400" dirty="0" err="1">
                <a:latin typeface="+mj-lt"/>
              </a:rPr>
              <a:t>Criticize</a:t>
            </a:r>
            <a:r>
              <a:rPr lang="it-IT" sz="2400" dirty="0">
                <a:latin typeface="+mj-lt"/>
              </a:rPr>
              <a:t> the </a:t>
            </a:r>
            <a:r>
              <a:rPr lang="it-IT" sz="2400" dirty="0" err="1">
                <a:latin typeface="+mj-lt"/>
              </a:rPr>
              <a:t>estimation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models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chosen</a:t>
            </a:r>
            <a:r>
              <a:rPr lang="it-IT" sz="2400" dirty="0">
                <a:latin typeface="+mj-lt"/>
              </a:rPr>
              <a:t> by the </a:t>
            </a:r>
            <a:r>
              <a:rPr lang="it-IT" sz="2400" dirty="0" err="1">
                <a:latin typeface="+mj-lt"/>
              </a:rPr>
              <a:t>authors</a:t>
            </a:r>
            <a:endParaRPr lang="it-IT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2BA2084-79A7-744D-92FF-B16B1C13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5381" y="395977"/>
            <a:ext cx="5259298" cy="932814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0070C0"/>
                </a:solidFill>
              </a:rPr>
              <a:t>A SUITABLE MODEL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0A5588-D3F9-2B44-A7D0-EF33AEEA6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5093" y="1242937"/>
            <a:ext cx="1843451" cy="406451"/>
          </a:xfrm>
        </p:spPr>
        <p:txBody>
          <a:bodyPr>
            <a:normAutofit lnSpcReduction="10000"/>
          </a:bodyPr>
          <a:lstStyle/>
          <a:p>
            <a:r>
              <a:rPr lang="it-IT" b="0" dirty="0">
                <a:solidFill>
                  <a:srgbClr val="0070C0"/>
                </a:solidFill>
                <a:latin typeface="+mj-lt"/>
              </a:rPr>
              <a:t>FIXED EFFECT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0FCF5CD-1FFF-D742-AF6A-06DD42CEED1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75093" y="1649388"/>
                <a:ext cx="5361430" cy="503828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+mj-lt"/>
                      </a:rPr>
                      <m:t>𝑐𝑜</m:t>
                    </m:r>
                    <m:r>
                      <a:rPr lang="it-IT" sz="1800" b="0" i="1" smtClean="0">
                        <a:latin typeface="+mj-lt"/>
                      </a:rPr>
                      <m:t>𝑟𝑟</m:t>
                    </m:r>
                    <m:d>
                      <m:dPr>
                        <m:ctrlPr>
                          <a:rPr lang="it-IT" sz="1800" i="1">
                            <a:latin typeface="+mj-lt"/>
                          </a:rPr>
                        </m:ctrlPr>
                      </m:dPr>
                      <m:e>
                        <m:r>
                          <a:rPr lang="en-US" sz="1800" i="1">
                            <a:latin typeface="+mj-lt"/>
                          </a:rPr>
                          <m:t>𝑙</m:t>
                        </m:r>
                        <m:sSub>
                          <m:sSubPr>
                            <m:ctrlPr>
                              <a:rPr lang="it-IT" sz="180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+mj-lt"/>
                              </a:rPr>
                              <m:t>𝑛𝑓𝑑𝑖𝑖𝑛𝑠𝑡𝑜𝑐𝑘</m:t>
                            </m:r>
                          </m:e>
                          <m:sub>
                            <m:r>
                              <a:rPr lang="en-US" sz="1800" i="1">
                                <a:latin typeface="+mj-lt"/>
                              </a:rPr>
                              <m:t>𝑖</m:t>
                            </m:r>
                            <m:r>
                              <a:rPr lang="en-US" sz="1800" i="1">
                                <a:latin typeface="+mj-lt"/>
                              </a:rPr>
                              <m:t>,</m:t>
                            </m:r>
                            <m:r>
                              <a:rPr lang="en-US" sz="1800" i="1">
                                <a:latin typeface="+mj-lt"/>
                              </a:rPr>
                              <m:t>𝑡</m:t>
                            </m:r>
                            <m:r>
                              <a:rPr lang="en-US" sz="1800" i="1">
                                <a:latin typeface="+mj-lt"/>
                              </a:rPr>
                              <m:t>−1</m:t>
                            </m:r>
                          </m:sub>
                        </m:sSub>
                        <m:r>
                          <a:rPr lang="en-US" sz="1800" i="1">
                            <a:latin typeface="+mj-lt"/>
                          </a:rPr>
                          <m:t>, </m:t>
                        </m:r>
                        <m:sSub>
                          <m:sSubPr>
                            <m:ctrlPr>
                              <a:rPr lang="it-IT" sz="180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+mj-lt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i="1">
                                <a:latin typeface="+mj-lt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+mj-lt"/>
                      </a:rPr>
                      <m:t>≠0</m:t>
                    </m:r>
                  </m:oMath>
                </a14:m>
                <a:r>
                  <a:rPr lang="it-IT" sz="1800" dirty="0">
                    <a:effectLst/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endParaRPr lang="it-IT" sz="500" i="1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 smtClean="0">
                              <a:latin typeface="+mj-lt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+mj-lt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latin typeface="+mj-lt"/>
                            </a:rPr>
                            <m:t>𝑖𝑡</m:t>
                          </m:r>
                        </m:sub>
                      </m:sSub>
                      <m:r>
                        <a:rPr lang="en-US" sz="1800" i="1">
                          <a:latin typeface="+mj-lt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it-IT" sz="1800" i="1">
                              <a:latin typeface="+mj-lt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18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+mj-lt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800" i="1">
                                  <a:latin typeface="+mj-lt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800" i="1">
                          <a:latin typeface="+mj-lt"/>
                        </a:rPr>
                        <m:t>=</m:t>
                      </m:r>
                      <m:sSub>
                        <m:sSubPr>
                          <m:ctrlPr>
                            <a:rPr lang="it-IT" sz="1800" i="1">
                              <a:latin typeface="+mj-lt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+mj-lt"/>
                            </a:rPr>
                            <m:t>𝛾</m:t>
                          </m:r>
                        </m:e>
                        <m:sub>
                          <m:r>
                            <a:rPr lang="en-US" sz="1800" i="1">
                              <a:latin typeface="+mj-lt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it-IT" sz="1800" i="1">
                              <a:latin typeface="+mj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8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+mj-lt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800" i="1">
                                  <a:latin typeface="+mj-lt"/>
                                </a:rPr>
                                <m:t>𝑖</m:t>
                              </m:r>
                              <m:r>
                                <a:rPr lang="en-US" sz="1800" i="1">
                                  <a:latin typeface="+mj-lt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+mj-lt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+mj-lt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800" i="1">
                              <a:latin typeface="+mj-lt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it-IT" sz="1800" i="1">
                                  <a:latin typeface="+mj-lt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it-IT" sz="1800" i="1"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+mj-lt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+mj-lt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1800" i="1">
                          <a:latin typeface="+mj-lt"/>
                        </a:rPr>
                        <m:t>+</m:t>
                      </m:r>
                      <m:r>
                        <a:rPr lang="en-US" sz="1800" i="1">
                          <a:latin typeface="+mj-lt"/>
                        </a:rPr>
                        <m:t>𝛽</m:t>
                      </m:r>
                      <m:r>
                        <a:rPr lang="en-US" sz="1800" i="1">
                          <a:latin typeface="+mj-lt"/>
                        </a:rPr>
                        <m:t>′</m:t>
                      </m:r>
                      <m:d>
                        <m:dPr>
                          <m:ctrlPr>
                            <a:rPr lang="it-IT" sz="1800" i="1">
                              <a:latin typeface="+mj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8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+mj-lt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+mj-lt"/>
                                </a:rPr>
                                <m:t>𝑖</m:t>
                              </m:r>
                              <m:r>
                                <a:rPr lang="en-US" sz="1800" i="1">
                                  <a:latin typeface="+mj-lt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+mj-lt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i="1">
                              <a:latin typeface="+mj-lt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it-IT" sz="1800" i="1">
                                  <a:latin typeface="+mj-lt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it-IT" sz="1800" i="1"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+mj-lt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+mj-lt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1800" i="1">
                          <a:latin typeface="+mj-lt"/>
                        </a:rPr>
                        <m:t>+</m:t>
                      </m:r>
                      <m:sSub>
                        <m:sSubPr>
                          <m:ctrlPr>
                            <a:rPr lang="it-IT" sz="1800" i="1">
                              <a:latin typeface="+mj-lt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+mj-lt"/>
                            </a:rPr>
                            <m:t>(</m:t>
                          </m:r>
                          <m:r>
                            <a:rPr lang="en-US" sz="1800" i="1">
                              <a:latin typeface="+mj-lt"/>
                            </a:rPr>
                            <m:t>𝑣</m:t>
                          </m:r>
                        </m:e>
                        <m:sub>
                          <m:r>
                            <a:rPr lang="en-US" sz="1800" i="1">
                              <a:latin typeface="+mj-lt"/>
                            </a:rPr>
                            <m:t>𝑖𝑡</m:t>
                          </m:r>
                        </m:sub>
                      </m:sSub>
                      <m:r>
                        <a:rPr lang="en-US" sz="1800" i="1">
                          <a:latin typeface="+mj-lt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it-IT" sz="1800" i="1">
                              <a:latin typeface="+mj-lt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18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+mj-lt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>
                                  <a:latin typeface="+mj-lt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800" i="1">
                          <a:latin typeface="+mj-lt"/>
                        </a:rPr>
                        <m:t>)</m:t>
                      </m:r>
                    </m:oMath>
                  </m:oMathPara>
                </a14:m>
                <a:endParaRPr lang="it-IT" sz="1800" dirty="0">
                  <a:effectLst/>
                  <a:latin typeface="+mj-lt"/>
                </a:endParaRPr>
              </a:p>
              <a:p>
                <a:pPr marL="0" indent="0">
                  <a:buNone/>
                </a:pPr>
                <a:endParaRPr lang="it-IT" sz="500" i="1" dirty="0">
                  <a:latin typeface="+mj-lt"/>
                </a:endParaRPr>
              </a:p>
              <a:p>
                <a:pPr marL="0" indent="0">
                  <a:buNone/>
                </a:pPr>
                <a:endParaRPr lang="it-IT" sz="1800" i="1" dirty="0">
                  <a:latin typeface="+mj-lt"/>
                </a:endParaRPr>
              </a:p>
              <a:p>
                <a:pPr marL="0" indent="0">
                  <a:buNone/>
                </a:pPr>
                <a:endParaRPr lang="it-IT" sz="1800" i="1" dirty="0">
                  <a:latin typeface="+mj-lt"/>
                </a:endParaRPr>
              </a:p>
              <a:p>
                <a:pPr marL="0" indent="0">
                  <a:buNone/>
                </a:pPr>
                <a:endParaRPr lang="it-IT" sz="1800" i="1" dirty="0">
                  <a:latin typeface="+mj-lt"/>
                </a:endParaRPr>
              </a:p>
              <a:p>
                <a:pPr marL="0" indent="0">
                  <a:buNone/>
                </a:pPr>
                <a:endParaRPr lang="it-IT" sz="500" i="1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+mj-lt"/>
                        </a:rPr>
                        <m:t>𝑐𝑜𝑟𝑟</m:t>
                      </m:r>
                      <m:d>
                        <m:dPr>
                          <m:ctrlPr>
                            <a:rPr lang="it-IT" sz="1800" i="1">
                              <a:latin typeface="+mj-lt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+mj-lt"/>
                            </a:rPr>
                            <m:t>(</m:t>
                          </m:r>
                          <m:r>
                            <a:rPr lang="en-US" sz="1800" i="1">
                              <a:latin typeface="+mj-lt"/>
                            </a:rPr>
                            <m:t>𝑙</m:t>
                          </m:r>
                          <m:sSub>
                            <m:sSubPr>
                              <m:ctrlPr>
                                <a:rPr lang="it-IT" sz="18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+mj-lt"/>
                                </a:rPr>
                                <m:t>𝑛𝑓𝑑𝑖𝑖𝑛𝑠𝑡𝑜𝑐𝑘</m:t>
                              </m:r>
                            </m:e>
                            <m:sub>
                              <m:r>
                                <a:rPr lang="en-US" sz="1800" i="1">
                                  <a:latin typeface="+mj-lt"/>
                                </a:rPr>
                                <m:t>𝑖</m:t>
                              </m:r>
                              <m:r>
                                <a:rPr lang="en-US" sz="1800" i="1">
                                  <a:latin typeface="+mj-lt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+mj-lt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+mj-lt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800" i="1">
                              <a:latin typeface="+mj-lt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it-IT" sz="1800" i="1">
                                  <a:latin typeface="+mj-lt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+mj-lt"/>
                                </a:rPr>
                                <m:t>𝑙</m:t>
                              </m:r>
                              <m:sSub>
                                <m:sSubPr>
                                  <m:ctrlPr>
                                    <a:rPr lang="it-IT" sz="1800" i="1"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+mj-lt"/>
                                    </a:rPr>
                                    <m:t>𝑛𝑓𝑑𝑖𝑖𝑛𝑠𝑡𝑜𝑐𝑘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+mj-lt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800" i="1">
                              <a:latin typeface="+mj-lt"/>
                            </a:rPr>
                            <m:t>), </m:t>
                          </m:r>
                          <m:sSub>
                            <m:sSubPr>
                              <m:ctrlPr>
                                <a:rPr lang="it-IT" sz="18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+mj-lt"/>
                                </a:rPr>
                                <m:t>(</m:t>
                              </m:r>
                              <m:r>
                                <a:rPr lang="en-US" sz="1800" i="1">
                                  <a:latin typeface="+mj-lt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>
                                  <a:latin typeface="+mj-lt"/>
                                </a:rPr>
                                <m:t>𝑖𝑡</m:t>
                              </m:r>
                            </m:sub>
                          </m:sSub>
                          <m:r>
                            <a:rPr lang="en-US" sz="1800" i="1">
                              <a:latin typeface="+mj-lt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it-IT" sz="1800" i="1">
                                  <a:latin typeface="+mj-lt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it-IT" sz="1800" i="1"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+mj-lt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+mj-lt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800" i="1">
                              <a:latin typeface="+mj-lt"/>
                            </a:rPr>
                            <m:t>)</m:t>
                          </m:r>
                        </m:e>
                      </m:d>
                      <m:r>
                        <a:rPr lang="en-US" sz="1800" i="1">
                          <a:latin typeface="+mj-lt"/>
                        </a:rPr>
                        <m:t>≠0</m:t>
                      </m:r>
                    </m:oMath>
                  </m:oMathPara>
                </a14:m>
                <a:endParaRPr lang="it-IT" sz="18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it-IT" sz="1800" dirty="0">
                    <a:latin typeface="+mj-lt"/>
                    <a:sym typeface="Wingdings" pitchFamily="2" charset="2"/>
                  </a:rPr>
                  <a:t> </a:t>
                </a:r>
                <a:r>
                  <a:rPr lang="it-IT" sz="1800" dirty="0" err="1">
                    <a:solidFill>
                      <a:srgbClr val="FF0000"/>
                    </a:solidFill>
                    <a:latin typeface="+mj-lt"/>
                    <a:sym typeface="Wingdings" pitchFamily="2" charset="2"/>
                  </a:rPr>
                  <a:t>Endogeneity</a:t>
                </a:r>
                <a:r>
                  <a:rPr lang="it-IT" sz="1800" dirty="0">
                    <a:solidFill>
                      <a:srgbClr val="FF0000"/>
                    </a:solidFill>
                    <a:latin typeface="+mj-lt"/>
                    <a:sym typeface="Wingdings" pitchFamily="2" charset="2"/>
                  </a:rPr>
                  <a:t> </a:t>
                </a:r>
                <a:endParaRPr lang="it-IT" sz="1800" dirty="0">
                  <a:solidFill>
                    <a:srgbClr val="FF0000"/>
                  </a:solidFill>
                  <a:latin typeface="+mj-lt"/>
                </a:endParaRPr>
              </a:p>
              <a:p>
                <a:pPr marL="0" indent="0">
                  <a:buNone/>
                </a:pPr>
                <a:endParaRPr lang="it-IT" sz="5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it-IT" sz="1800" b="1" dirty="0" err="1">
                    <a:latin typeface="+mj-lt"/>
                  </a:rPr>
                  <a:t>Nickell</a:t>
                </a:r>
                <a:r>
                  <a:rPr lang="it-IT" sz="1800" b="1" dirty="0">
                    <a:latin typeface="+mj-lt"/>
                  </a:rPr>
                  <a:t> </a:t>
                </a:r>
                <a:r>
                  <a:rPr lang="it-IT" sz="1800" b="1" dirty="0" err="1">
                    <a:latin typeface="+mj-lt"/>
                  </a:rPr>
                  <a:t>bias</a:t>
                </a:r>
                <a:r>
                  <a:rPr lang="it-IT" sz="1800" b="1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r>
                  <a:rPr lang="it-IT" sz="1100" dirty="0">
                    <a:latin typeface="+mj-lt"/>
                  </a:rPr>
                  <a:t> </a:t>
                </a:r>
                <a:r>
                  <a:rPr lang="en-US" sz="1800" dirty="0">
                    <a:latin typeface="+mj-lt"/>
                  </a:rPr>
                  <a:t>“a typical set of panel data has a rather large number of individuals and a rather small number of time periods and it is in this circumstances that the biases are most serious”.</a:t>
                </a:r>
                <a:r>
                  <a:rPr lang="it-IT" sz="1100" dirty="0">
                    <a:effectLst/>
                    <a:latin typeface="+mj-lt"/>
                  </a:rPr>
                  <a:t> </a:t>
                </a:r>
                <a:endParaRPr lang="it-IT" sz="1100" dirty="0">
                  <a:latin typeface="+mj-lt"/>
                </a:endParaRPr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0FCF5CD-1FFF-D742-AF6A-06DD42CEED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75093" y="1649388"/>
                <a:ext cx="5361430" cy="5038282"/>
              </a:xfrm>
              <a:blipFill>
                <a:blip r:embed="rId3"/>
                <a:stretch>
                  <a:fillRect l="-946" r="-94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3F3D14-0268-C04A-8884-77A7401BE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3787" y="1237432"/>
            <a:ext cx="5183188" cy="411956"/>
          </a:xfrm>
        </p:spPr>
        <p:txBody>
          <a:bodyPr>
            <a:normAutofit lnSpcReduction="10000"/>
          </a:bodyPr>
          <a:lstStyle/>
          <a:p>
            <a:r>
              <a:rPr lang="it-IT" b="0" dirty="0">
                <a:solidFill>
                  <a:srgbClr val="0070C0"/>
                </a:solidFill>
                <a:latin typeface="+mj-lt"/>
              </a:rPr>
              <a:t>RANDOM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7DB99CB8-7CEE-E643-B7B1-411F361F66AC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073788" y="1743822"/>
                <a:ext cx="5743120" cy="38624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+mj-lt"/>
                          </a:rPr>
                        </m:ctrlPr>
                      </m:sSubPr>
                      <m:e>
                        <m:r>
                          <a:rPr lang="en-US" sz="1800" i="1">
                            <a:latin typeface="+mj-lt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latin typeface="+mj-lt"/>
                          </a:rPr>
                          <m:t>𝑖𝑡</m:t>
                        </m:r>
                      </m:sub>
                    </m:sSub>
                    <m:r>
                      <a:rPr lang="en-US" sz="1800" i="1">
                        <a:latin typeface="+mj-lt"/>
                      </a:rPr>
                      <m:t>−</m:t>
                    </m:r>
                    <m:r>
                      <a:rPr lang="en-US" sz="1800" i="1">
                        <a:latin typeface="+mj-lt"/>
                      </a:rPr>
                      <m:t>𝜆</m:t>
                    </m:r>
                    <m:acc>
                      <m:accPr>
                        <m:chr m:val="̅"/>
                        <m:ctrlPr>
                          <a:rPr lang="it-IT" sz="1800" i="1">
                            <a:latin typeface="+mj-lt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sz="180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+mj-lt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>
                                <a:latin typeface="+mj-lt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800" i="1">
                        <a:latin typeface="+mj-lt"/>
                      </a:rPr>
                      <m:t>=</m:t>
                    </m:r>
                    <m:r>
                      <a:rPr lang="en-US" sz="1800" i="1">
                        <a:latin typeface="+mj-lt"/>
                      </a:rPr>
                      <m:t>𝛾</m:t>
                    </m:r>
                    <m:d>
                      <m:dPr>
                        <m:ctrlPr>
                          <a:rPr lang="it-IT" sz="1800" i="1">
                            <a:latin typeface="+mj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+mj-lt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>
                                <a:latin typeface="+mj-lt"/>
                              </a:rPr>
                              <m:t>𝑖</m:t>
                            </m:r>
                            <m:r>
                              <a:rPr lang="en-US" sz="1800" i="1">
                                <a:latin typeface="+mj-lt"/>
                              </a:rPr>
                              <m:t>,</m:t>
                            </m:r>
                            <m:r>
                              <a:rPr lang="en-US" sz="1800" i="1">
                                <a:latin typeface="+mj-lt"/>
                              </a:rPr>
                              <m:t>𝑡</m:t>
                            </m:r>
                            <m:r>
                              <a:rPr lang="en-US" sz="1800" i="1">
                                <a:latin typeface="+mj-lt"/>
                              </a:rPr>
                              <m:t>−1</m:t>
                            </m:r>
                          </m:sub>
                        </m:sSub>
                        <m:r>
                          <a:rPr lang="en-US" sz="1800" i="1">
                            <a:latin typeface="+mj-lt"/>
                          </a:rPr>
                          <m:t>−</m:t>
                        </m:r>
                        <m:r>
                          <a:rPr lang="en-US" sz="1800" i="1">
                            <a:latin typeface="+mj-lt"/>
                          </a:rPr>
                          <m:t>𝜆</m:t>
                        </m:r>
                        <m:acc>
                          <m:accPr>
                            <m:chr m:val="̅"/>
                            <m:ctrlPr>
                              <a:rPr lang="it-IT" sz="1800" i="1">
                                <a:latin typeface="+mj-lt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it-IT" sz="1800" i="1">
                                    <a:latin typeface="+mj-lt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+mj-lt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+mj-lt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1800" i="1">
                        <a:latin typeface="+mj-lt"/>
                      </a:rPr>
                      <m:t>+</m:t>
                    </m:r>
                    <m:r>
                      <a:rPr lang="en-US" sz="1800" i="1">
                        <a:latin typeface="+mj-lt"/>
                      </a:rPr>
                      <m:t>𝛽</m:t>
                    </m:r>
                    <m:r>
                      <a:rPr lang="en-US" sz="1800" i="1">
                        <a:latin typeface="+mj-lt"/>
                      </a:rPr>
                      <m:t>′</m:t>
                    </m:r>
                    <m:d>
                      <m:dPr>
                        <m:ctrlPr>
                          <a:rPr lang="it-IT" sz="1800" i="1">
                            <a:latin typeface="+mj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+mj-lt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+mj-lt"/>
                              </a:rPr>
                              <m:t>𝑖</m:t>
                            </m:r>
                            <m:r>
                              <a:rPr lang="en-US" sz="1800" i="1">
                                <a:latin typeface="+mj-lt"/>
                              </a:rPr>
                              <m:t>,</m:t>
                            </m:r>
                            <m:r>
                              <a:rPr lang="en-US" sz="1800" i="1">
                                <a:latin typeface="+mj-lt"/>
                              </a:rPr>
                              <m:t>𝑡</m:t>
                            </m:r>
                          </m:sub>
                        </m:sSub>
                        <m:r>
                          <a:rPr lang="en-US" sz="1800" i="1">
                            <a:latin typeface="+mj-lt"/>
                          </a:rPr>
                          <m:t>−</m:t>
                        </m:r>
                        <m:r>
                          <a:rPr lang="en-US" sz="1800" i="1">
                            <a:latin typeface="+mj-lt"/>
                          </a:rPr>
                          <m:t>𝜆</m:t>
                        </m:r>
                        <m:acc>
                          <m:accPr>
                            <m:chr m:val="̅"/>
                            <m:ctrlPr>
                              <a:rPr lang="it-IT" sz="1800" i="1">
                                <a:latin typeface="+mj-lt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it-IT" sz="1800" i="1">
                                    <a:latin typeface="+mj-lt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+mj-lt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+mj-lt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1800" i="1">
                        <a:latin typeface="+mj-lt"/>
                      </a:rPr>
                      <m:t>+</m:t>
                    </m:r>
                    <m:sSub>
                      <m:sSubPr>
                        <m:ctrlPr>
                          <a:rPr lang="it-IT" sz="18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1800" i="1">
                            <a:latin typeface="+mj-lt"/>
                          </a:rPr>
                          <m:t>(</m:t>
                        </m:r>
                        <m:r>
                          <a:rPr lang="en-US" sz="1800" i="1">
                            <a:latin typeface="+mj-lt"/>
                          </a:rPr>
                          <m:t>𝜀</m:t>
                        </m:r>
                      </m:e>
                      <m:sub>
                        <m:r>
                          <a:rPr lang="en-US" sz="1800" i="1">
                            <a:latin typeface="+mj-lt"/>
                          </a:rPr>
                          <m:t>𝑖𝑡</m:t>
                        </m:r>
                      </m:sub>
                    </m:sSub>
                    <m:r>
                      <a:rPr lang="en-US" sz="1800" i="1">
                        <a:latin typeface="+mj-lt"/>
                      </a:rPr>
                      <m:t>−</m:t>
                    </m:r>
                    <m:r>
                      <a:rPr lang="en-US" sz="1800" i="1">
                        <a:latin typeface="+mj-lt"/>
                      </a:rPr>
                      <m:t>𝜆</m:t>
                    </m:r>
                    <m:acc>
                      <m:accPr>
                        <m:chr m:val="̅"/>
                        <m:ctrlPr>
                          <a:rPr lang="it-IT" sz="1800" i="1">
                            <a:latin typeface="+mj-lt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sz="180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+mj-lt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800" i="1">
                                <a:latin typeface="+mj-lt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800" i="1">
                        <a:latin typeface="+mj-lt"/>
                      </a:rPr>
                      <m:t>)</m:t>
                    </m:r>
                  </m:oMath>
                </a14:m>
                <a:r>
                  <a:rPr lang="it-IT" sz="1800" dirty="0">
                    <a:effectLst/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endParaRPr lang="it-IT" sz="18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By construction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+mj-lt"/>
                      </a:rPr>
                      <m:t>𝑙</m:t>
                    </m:r>
                    <m:sSub>
                      <m:sSubPr>
                        <m:ctrlPr>
                          <a:rPr lang="it-IT" sz="24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2400" i="1">
                            <a:latin typeface="+mj-lt"/>
                          </a:rPr>
                          <m:t>𝑛𝑓𝑑𝑖𝑖𝑛𝑠𝑡𝑜𝑐𝑘</m:t>
                        </m:r>
                      </m:e>
                      <m:sub>
                        <m:r>
                          <a:rPr lang="en-US" sz="2400" i="1">
                            <a:latin typeface="+mj-lt"/>
                          </a:rPr>
                          <m:t>𝑖</m:t>
                        </m:r>
                        <m:r>
                          <a:rPr lang="en-US" sz="2400" i="1">
                            <a:latin typeface="+mj-lt"/>
                          </a:rPr>
                          <m:t>,</m:t>
                        </m:r>
                        <m:r>
                          <a:rPr lang="en-US" sz="2400" i="1">
                            <a:latin typeface="+mj-lt"/>
                          </a:rPr>
                          <m:t>𝑡</m:t>
                        </m:r>
                        <m:r>
                          <a:rPr lang="en-US" sz="2400" i="1">
                            <a:latin typeface="+mj-lt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</a:rPr>
                  <a:t> is correlated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2400" i="1">
                            <a:latin typeface="+mj-lt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+mj-lt"/>
                          </a:rPr>
                          <m:t>𝑖</m:t>
                        </m:r>
                      </m:sub>
                    </m:sSub>
                  </m:oMath>
                </a14:m>
                <a:endParaRPr lang="it-IT" sz="24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= one regressor is correlated with the fixed effect</a:t>
                </a:r>
              </a:p>
              <a:p>
                <a:pPr marL="0" indent="0">
                  <a:buNone/>
                </a:pPr>
                <a:endParaRPr lang="en-US" sz="24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Inconsistent</a:t>
                </a:r>
                <a:endParaRPr lang="it-IT" sz="2400" dirty="0">
                  <a:latin typeface="+mj-lt"/>
                </a:endParaRPr>
              </a:p>
            </p:txBody>
          </p:sp>
        </mc:Choice>
        <mc:Fallback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7DB99CB8-7CEE-E643-B7B1-411F361F66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073788" y="1743822"/>
                <a:ext cx="5743120" cy="3862432"/>
              </a:xfrm>
              <a:blipFill>
                <a:blip r:embed="rId4"/>
                <a:stretch>
                  <a:fillRect l="-154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6669C8C-E647-D64C-8251-05C260B6A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0166" y="-350667"/>
            <a:ext cx="3664940" cy="1699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9C527-47BA-9143-9D79-5D24A9349427}"/>
              </a:ext>
            </a:extLst>
          </p:cNvPr>
          <p:cNvCxnSpPr>
            <a:cxnSpLocks/>
          </p:cNvCxnSpPr>
          <p:nvPr/>
        </p:nvCxnSpPr>
        <p:spPr>
          <a:xfrm>
            <a:off x="-20785" y="1142997"/>
            <a:ext cx="12212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782E6-10A9-AB47-B5E7-DA749DA7F880}"/>
                  </a:ext>
                </a:extLst>
              </p:cNvPr>
              <p:cNvSpPr txBox="1"/>
              <p:nvPr/>
            </p:nvSpPr>
            <p:spPr>
              <a:xfrm>
                <a:off x="729054" y="2784725"/>
                <a:ext cx="441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782E6-10A9-AB47-B5E7-DA749DA7F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54" y="2784725"/>
                <a:ext cx="441063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0805F3-4D03-6B4A-9585-C2BE2A170A1D}"/>
                  </a:ext>
                </a:extLst>
              </p:cNvPr>
              <p:cNvSpPr txBox="1"/>
              <p:nvPr/>
            </p:nvSpPr>
            <p:spPr>
              <a:xfrm>
                <a:off x="1549657" y="2784725"/>
                <a:ext cx="441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0805F3-4D03-6B4A-9585-C2BE2A170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657" y="2784725"/>
                <a:ext cx="44106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DB3FBF-C0D2-E14E-8824-860714AF9C1D}"/>
                  </a:ext>
                </a:extLst>
              </p:cNvPr>
              <p:cNvSpPr txBox="1"/>
              <p:nvPr/>
            </p:nvSpPr>
            <p:spPr>
              <a:xfrm>
                <a:off x="2731190" y="2787131"/>
                <a:ext cx="441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DB3FBF-C0D2-E14E-8824-860714AF9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190" y="2787131"/>
                <a:ext cx="441063" cy="369332"/>
              </a:xfrm>
              <a:prstGeom prst="rect">
                <a:avLst/>
              </a:prstGeom>
              <a:blipFill>
                <a:blip r:embed="rId8"/>
                <a:stretch>
                  <a:fillRect r="-38889" b="-32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55B27B-0EE5-3347-B85E-6D60A3519B5B}"/>
                  </a:ext>
                </a:extLst>
              </p:cNvPr>
              <p:cNvSpPr txBox="1"/>
              <p:nvPr/>
            </p:nvSpPr>
            <p:spPr>
              <a:xfrm>
                <a:off x="2679851" y="3336054"/>
                <a:ext cx="441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55B27B-0EE5-3347-B85E-6D60A3519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851" y="3336054"/>
                <a:ext cx="44106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11B57E-BDDA-5941-B2CB-A7C4B625D4BC}"/>
                  </a:ext>
                </a:extLst>
              </p:cNvPr>
              <p:cNvSpPr txBox="1"/>
              <p:nvPr/>
            </p:nvSpPr>
            <p:spPr>
              <a:xfrm>
                <a:off x="3729453" y="2784725"/>
                <a:ext cx="441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11B57E-BDDA-5941-B2CB-A7C4B625D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453" y="2784725"/>
                <a:ext cx="441063" cy="369332"/>
              </a:xfrm>
              <a:prstGeom prst="rect">
                <a:avLst/>
              </a:prstGeom>
              <a:blipFill>
                <a:blip r:embed="rId10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352B52E-63AF-4844-A055-BCC0F5F6D1CB}"/>
              </a:ext>
            </a:extLst>
          </p:cNvPr>
          <p:cNvCxnSpPr/>
          <p:nvPr/>
        </p:nvCxnSpPr>
        <p:spPr>
          <a:xfrm flipH="1">
            <a:off x="3360051" y="3008719"/>
            <a:ext cx="388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7EC64A-A82D-554C-A061-BC90CFC1CEFD}"/>
              </a:ext>
            </a:extLst>
          </p:cNvPr>
          <p:cNvCxnSpPr/>
          <p:nvPr/>
        </p:nvCxnSpPr>
        <p:spPr>
          <a:xfrm flipH="1">
            <a:off x="1160975" y="3003803"/>
            <a:ext cx="388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8D40D99-2410-FE42-B50C-80CA802C6F1A}"/>
                  </a:ext>
                </a:extLst>
              </p:cNvPr>
              <p:cNvSpPr txBox="1"/>
              <p:nvPr/>
            </p:nvSpPr>
            <p:spPr>
              <a:xfrm>
                <a:off x="1650779" y="3336054"/>
                <a:ext cx="441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8D40D99-2410-FE42-B50C-80CA802C6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779" y="3336054"/>
                <a:ext cx="441063" cy="369332"/>
              </a:xfrm>
              <a:prstGeom prst="rect">
                <a:avLst/>
              </a:prstGeom>
              <a:blipFill>
                <a:blip r:embed="rId11"/>
                <a:stretch>
                  <a:fillRect r="-38889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8C0B97-7B41-4B4F-9C0E-A0D1A18354C0}"/>
              </a:ext>
            </a:extLst>
          </p:cNvPr>
          <p:cNvCxnSpPr>
            <a:cxnSpLocks/>
          </p:cNvCxnSpPr>
          <p:nvPr/>
        </p:nvCxnSpPr>
        <p:spPr>
          <a:xfrm>
            <a:off x="2276506" y="3546361"/>
            <a:ext cx="4546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1D84D4F-169F-EC4B-9472-1F4012E9497E}"/>
              </a:ext>
            </a:extLst>
          </p:cNvPr>
          <p:cNvCxnSpPr/>
          <p:nvPr/>
        </p:nvCxnSpPr>
        <p:spPr>
          <a:xfrm flipV="1">
            <a:off x="3172253" y="3224355"/>
            <a:ext cx="777731" cy="322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A8B8848-03A4-914B-B2EF-E867F31D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8845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84360F-ABBD-7D4F-B0CD-F6E6C94B8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921" y="1317333"/>
            <a:ext cx="2790918" cy="416576"/>
          </a:xfrm>
        </p:spPr>
        <p:txBody>
          <a:bodyPr>
            <a:normAutofit lnSpcReduction="10000"/>
          </a:bodyPr>
          <a:lstStyle/>
          <a:p>
            <a:r>
              <a:rPr lang="it-IT" b="0" dirty="0">
                <a:solidFill>
                  <a:srgbClr val="0070C0"/>
                </a:solidFill>
                <a:latin typeface="+mj-lt"/>
              </a:rPr>
              <a:t>FIRST DIFFERENCED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70E96-9A6F-9C47-945A-962BEEE6603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269921" y="1787396"/>
                <a:ext cx="11664181" cy="84926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latin typeface="+mj-lt"/>
                  </a:rPr>
                  <a:t>Correlation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+mj-lt"/>
                      </a:rPr>
                      <m:t>∆</m:t>
                    </m:r>
                    <m:r>
                      <a:rPr lang="en-US" sz="2000" i="1">
                        <a:latin typeface="+mj-lt"/>
                      </a:rPr>
                      <m:t>𝑙</m:t>
                    </m:r>
                    <m:sSub>
                      <m:sSubPr>
                        <m:ctrlPr>
                          <a:rPr lang="it-IT" sz="20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2000" i="1">
                            <a:latin typeface="+mj-lt"/>
                          </a:rPr>
                          <m:t>𝑛𝑓𝑑𝑖𝑖𝑛𝑠𝑡𝑜𝑐𝑘</m:t>
                        </m:r>
                      </m:e>
                      <m:sub>
                        <m:r>
                          <a:rPr lang="en-US" sz="2000" i="1">
                            <a:latin typeface="+mj-lt"/>
                          </a:rPr>
                          <m:t>𝑖</m:t>
                        </m:r>
                        <m:r>
                          <a:rPr lang="en-US" sz="2000" i="1">
                            <a:latin typeface="+mj-lt"/>
                          </a:rPr>
                          <m:t>,</m:t>
                        </m:r>
                        <m:r>
                          <a:rPr lang="en-US" sz="2000" i="1">
                            <a:latin typeface="+mj-lt"/>
                          </a:rPr>
                          <m:t>𝑡</m:t>
                        </m:r>
                        <m:r>
                          <a:rPr lang="en-US" sz="2000" i="1">
                            <a:latin typeface="+mj-lt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+mj-lt"/>
                      </a:rPr>
                      <m:t> </m:t>
                    </m:r>
                  </m:oMath>
                </a14:m>
                <a:r>
                  <a:rPr lang="en-US" sz="2000" dirty="0"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+mj-lt"/>
                      </a:rPr>
                      <m:t>∆</m:t>
                    </m:r>
                    <m:sSub>
                      <m:sSubPr>
                        <m:ctrlPr>
                          <a:rPr lang="it-IT" sz="20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2000" i="1">
                            <a:latin typeface="+mj-lt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+mj-lt"/>
                          </a:rPr>
                          <m:t>𝑖</m:t>
                        </m:r>
                        <m:r>
                          <a:rPr lang="en-US" sz="2000" i="1">
                            <a:latin typeface="+mj-lt"/>
                          </a:rPr>
                          <m:t>,</m:t>
                        </m:r>
                        <m:r>
                          <a:rPr lang="en-US" sz="2000" i="1">
                            <a:latin typeface="+mj-lt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it-IT" sz="2000" dirty="0">
                    <a:latin typeface="+mj-lt"/>
                  </a:rPr>
                  <a:t>	</a:t>
                </a:r>
                <a:r>
                  <a:rPr lang="it-IT" sz="2200" dirty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𝑙</m:t>
                    </m:r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𝑛𝑓𝑑𝑖𝑖𝑛𝑠𝑡𝑜𝑐𝑘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it-IT" sz="2200" dirty="0">
                    <a:latin typeface="+mj-lt"/>
                  </a:rPr>
                  <a:t>									</a:t>
                </a:r>
                <a:r>
                  <a:rPr lang="it-IT" sz="2200" dirty="0" err="1">
                    <a:latin typeface="+mj-lt"/>
                  </a:rPr>
                  <a:t>Inconsistent</a:t>
                </a:r>
                <a:endParaRPr lang="it-IT" sz="22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it-IT" sz="2200" dirty="0">
                    <a:latin typeface="+mj-lt"/>
                  </a:rPr>
                  <a:t>								</a:t>
                </a:r>
              </a:p>
              <a:p>
                <a:pPr marL="12700" indent="0">
                  <a:buNone/>
                </a:pPr>
                <a:endParaRPr lang="it-IT" sz="2200" dirty="0">
                  <a:latin typeface="+mj-lt"/>
                </a:endParaRPr>
              </a:p>
              <a:p>
                <a:pPr marL="12700" indent="0">
                  <a:buNone/>
                </a:pPr>
                <a:endParaRPr lang="it-IT" sz="2200" dirty="0">
                  <a:latin typeface="+mj-lt"/>
                </a:endParaRPr>
              </a:p>
              <a:p>
                <a:pPr marL="0" indent="0">
                  <a:buNone/>
                </a:pPr>
                <a:endParaRPr lang="it-IT" sz="2400" i="1" dirty="0">
                  <a:latin typeface="+mj-lt"/>
                </a:endParaRPr>
              </a:p>
              <a:p>
                <a:pPr marL="0" indent="0">
                  <a:buNone/>
                </a:pPr>
                <a:endParaRPr lang="it-IT" sz="2400" i="1" dirty="0">
                  <a:latin typeface="+mj-lt"/>
                </a:endParaRPr>
              </a:p>
              <a:p>
                <a:pPr marL="1968500" indent="0">
                  <a:buNone/>
                </a:pPr>
                <a:endParaRPr lang="it-IT" sz="24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70E96-9A6F-9C47-945A-962BEEE66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269921" y="1787396"/>
                <a:ext cx="11664181" cy="849266"/>
              </a:xfrm>
              <a:blipFill>
                <a:blip r:embed="rId3"/>
                <a:stretch>
                  <a:fillRect l="-435" t="-44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32B6A9-FE47-2948-B8C8-F8C3CFE65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71104" y="5902183"/>
            <a:ext cx="6779245" cy="5419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+mj-lt"/>
              </a:rPr>
              <a:t>T is higher than 3 and the model is overidentified.</a:t>
            </a:r>
            <a:endParaRPr lang="it-IT" sz="2000" dirty="0">
              <a:latin typeface="+mj-lt"/>
            </a:endParaRPr>
          </a:p>
          <a:p>
            <a:pPr marL="0" indent="0">
              <a:buNone/>
            </a:pPr>
            <a:endParaRPr lang="it-IT" sz="1800" dirty="0">
              <a:latin typeface="+mj-lt"/>
            </a:endParaRPr>
          </a:p>
        </p:txBody>
      </p:sp>
      <p:pic>
        <p:nvPicPr>
          <p:cNvPr id="4" name="Picture 3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6669C8C-E647-D64C-8251-05C260B6A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0166" y="-350667"/>
            <a:ext cx="3664940" cy="1699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9C527-47BA-9143-9D79-5D24A9349427}"/>
              </a:ext>
            </a:extLst>
          </p:cNvPr>
          <p:cNvCxnSpPr>
            <a:cxnSpLocks/>
          </p:cNvCxnSpPr>
          <p:nvPr/>
        </p:nvCxnSpPr>
        <p:spPr>
          <a:xfrm>
            <a:off x="-20785" y="1142997"/>
            <a:ext cx="12212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7">
            <a:extLst>
              <a:ext uri="{FF2B5EF4-FFF2-40B4-BE49-F238E27FC236}">
                <a16:creationId xmlns:a16="http://schemas.microsoft.com/office/drawing/2014/main" id="{BD836975-FB10-0849-9F94-262DCFC1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2514" y="500093"/>
            <a:ext cx="4969341" cy="823912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0070C0"/>
                </a:solidFill>
              </a:rPr>
              <a:t>A SUITABLE MODEL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AF05AE4-8C50-2348-A031-E9FD90D75578}"/>
              </a:ext>
            </a:extLst>
          </p:cNvPr>
          <p:cNvSpPr txBox="1">
            <a:spLocks/>
          </p:cNvSpPr>
          <p:nvPr/>
        </p:nvSpPr>
        <p:spPr>
          <a:xfrm>
            <a:off x="269921" y="5330713"/>
            <a:ext cx="3390806" cy="5419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0" dirty="0">
                <a:solidFill>
                  <a:srgbClr val="0070C0"/>
                </a:solidFill>
                <a:latin typeface="+mj-lt"/>
              </a:rPr>
              <a:t>METHOD OF MOMENTS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6F9A620-4FE9-9F43-B1D6-685B7CE8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6</a:t>
            </a:fld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872CB2-45EC-A045-9563-CDB9127A4C92}"/>
                  </a:ext>
                </a:extLst>
              </p:cNvPr>
              <p:cNvSpPr txBox="1"/>
              <p:nvPr/>
            </p:nvSpPr>
            <p:spPr>
              <a:xfrm>
                <a:off x="1413814" y="2179039"/>
                <a:ext cx="1992539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𝑙𝑛𝑓𝑑𝑖𝑖𝑛𝑠𝑡𝑜𝑐𝑘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𝑙𝑛𝑓𝑑𝑖𝑖𝑛𝑠𝑡𝑜𝑐𝑘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it-IT" sz="1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872CB2-45EC-A045-9563-CDB9127A4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814" y="2179039"/>
                <a:ext cx="1992539" cy="381515"/>
              </a:xfrm>
              <a:prstGeom prst="rect">
                <a:avLst/>
              </a:prstGeom>
              <a:blipFill>
                <a:blip r:embed="rId5"/>
                <a:stretch>
                  <a:fillRect r="-101266" b="-64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702A688-DA5E-0148-B1CE-0244A14A253E}"/>
              </a:ext>
            </a:extLst>
          </p:cNvPr>
          <p:cNvSpPr txBox="1">
            <a:spLocks/>
          </p:cNvSpPr>
          <p:nvPr/>
        </p:nvSpPr>
        <p:spPr>
          <a:xfrm>
            <a:off x="9392856" y="5580229"/>
            <a:ext cx="1864328" cy="9767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0" dirty="0">
                <a:solidFill>
                  <a:srgbClr val="0070C0"/>
                </a:solidFill>
                <a:latin typeface="+mj-lt"/>
              </a:rPr>
              <a:t>GMM</a:t>
            </a:r>
          </a:p>
          <a:p>
            <a:r>
              <a:rPr lang="it-IT" b="0" dirty="0">
                <a:solidFill>
                  <a:srgbClr val="0070C0"/>
                </a:solidFill>
                <a:latin typeface="+mj-lt"/>
              </a:rPr>
              <a:t>ARELLANO BOND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8">
                <a:extLst>
                  <a:ext uri="{FF2B5EF4-FFF2-40B4-BE49-F238E27FC236}">
                    <a16:creationId xmlns:a16="http://schemas.microsoft.com/office/drawing/2014/main" id="{71F79986-9939-804A-BF07-2E3F7FF8AB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8358" y="4333558"/>
                <a:ext cx="11095903" cy="7502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>
                    <a:latin typeface="+mj-lt"/>
                  </a:rPr>
                  <a:t>In the model,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+mj-lt"/>
                      </a:rPr>
                      <m:t>∆</m:t>
                    </m:r>
                    <m:sSub>
                      <m:sSubPr>
                        <m:ctrlPr>
                          <a:rPr lang="it-IT" sz="20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2000" i="1">
                            <a:latin typeface="+mj-lt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+mj-lt"/>
                          </a:rPr>
                          <m:t>𝑖</m:t>
                        </m:r>
                        <m:r>
                          <a:rPr lang="en-US" sz="2000" i="1">
                            <a:latin typeface="+mj-lt"/>
                          </a:rPr>
                          <m:t>,</m:t>
                        </m:r>
                        <m:r>
                          <a:rPr lang="en-US" sz="2000" i="1">
                            <a:latin typeface="+mj-lt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is uncorrelated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2000" i="1">
                            <a:latin typeface="+mj-lt"/>
                          </a:rPr>
                          <m:t>𝑙𝑛𝑓𝑑𝑖𝑖𝑛𝑠𝑡𝑜𝑐𝑘</m:t>
                        </m:r>
                      </m:e>
                      <m:sub>
                        <m:r>
                          <a:rPr lang="en-US" sz="2000" i="1">
                            <a:latin typeface="+mj-lt"/>
                          </a:rPr>
                          <m:t>𝑖</m:t>
                        </m:r>
                        <m:r>
                          <a:rPr lang="en-US" sz="2000" i="1">
                            <a:latin typeface="+mj-lt"/>
                          </a:rPr>
                          <m:t>,</m:t>
                        </m:r>
                        <m:r>
                          <a:rPr lang="en-US" sz="2000" i="1">
                            <a:latin typeface="+mj-lt"/>
                          </a:rPr>
                          <m:t>𝑡</m:t>
                        </m:r>
                        <m:r>
                          <a:rPr lang="en-US" sz="2000" i="1">
                            <a:latin typeface="+mj-lt"/>
                          </a:rPr>
                          <m:t>−</m:t>
                        </m:r>
                        <m:r>
                          <a:rPr lang="en-US" sz="2000" i="1">
                            <a:latin typeface="+mj-lt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for k higher or equal to 2.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+mj-lt"/>
                  </a:rPr>
                  <a:t>The lagged levels of endogenous variable, three or more period before, can be used as instruments</a:t>
                </a:r>
                <a:r>
                  <a:rPr lang="it-IT" sz="2000" dirty="0">
                    <a:effectLst/>
                    <a:latin typeface="+mj-lt"/>
                  </a:rPr>
                  <a:t> </a:t>
                </a:r>
                <a:endParaRPr lang="it-IT" sz="2000" dirty="0">
                  <a:latin typeface="+mj-lt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it-IT" sz="2000" dirty="0">
                  <a:latin typeface="+mj-lt"/>
                </a:endParaRPr>
              </a:p>
            </p:txBody>
          </p:sp>
        </mc:Choice>
        <mc:Fallback>
          <p:sp>
            <p:nvSpPr>
              <p:cNvPr id="15" name="Content Placeholder 8">
                <a:extLst>
                  <a:ext uri="{FF2B5EF4-FFF2-40B4-BE49-F238E27FC236}">
                    <a16:creationId xmlns:a16="http://schemas.microsoft.com/office/drawing/2014/main" id="{71F79986-9939-804A-BF07-2E3F7FF8A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58" y="4333558"/>
                <a:ext cx="11095903" cy="750242"/>
              </a:xfrm>
              <a:prstGeom prst="rect">
                <a:avLst/>
              </a:prstGeom>
              <a:blipFill>
                <a:blip r:embed="rId6"/>
                <a:stretch>
                  <a:fillRect l="-572" t="-6667" b="-1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D95F84-DD8A-E44A-BCF6-7C38FAB898E7}"/>
              </a:ext>
            </a:extLst>
          </p:cNvPr>
          <p:cNvCxnSpPr/>
          <p:nvPr/>
        </p:nvCxnSpPr>
        <p:spPr>
          <a:xfrm>
            <a:off x="6629400" y="2203972"/>
            <a:ext cx="7524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78985B-F19D-C149-9565-B3A9B4932252}"/>
              </a:ext>
            </a:extLst>
          </p:cNvPr>
          <p:cNvSpPr txBox="1"/>
          <p:nvPr/>
        </p:nvSpPr>
        <p:spPr>
          <a:xfrm>
            <a:off x="428358" y="2907248"/>
            <a:ext cx="566764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 indent="0">
              <a:buNone/>
            </a:pPr>
            <a:r>
              <a:rPr lang="it-IT" sz="2000" dirty="0" err="1">
                <a:latin typeface="+mj-lt"/>
              </a:rPr>
              <a:t>Important</a:t>
            </a:r>
            <a:r>
              <a:rPr lang="it-IT" sz="2000" dirty="0">
                <a:latin typeface="+mj-lt"/>
              </a:rPr>
              <a:t> to </a:t>
            </a:r>
            <a:r>
              <a:rPr lang="it-IT" sz="2000" dirty="0" err="1">
                <a:latin typeface="+mj-lt"/>
              </a:rPr>
              <a:t>find</a:t>
            </a:r>
            <a:r>
              <a:rPr lang="it-IT" sz="2000" dirty="0">
                <a:latin typeface="+mj-lt"/>
              </a:rPr>
              <a:t> an </a:t>
            </a:r>
            <a:r>
              <a:rPr lang="it-IT" sz="2000" dirty="0" err="1">
                <a:latin typeface="+mj-lt"/>
              </a:rPr>
              <a:t>instrument</a:t>
            </a:r>
            <a:r>
              <a:rPr lang="it-IT" sz="2000" dirty="0">
                <a:latin typeface="+mj-lt"/>
              </a:rPr>
              <a:t> </a:t>
            </a:r>
          </a:p>
          <a:p>
            <a:pPr marL="12700" indent="0">
              <a:buNone/>
            </a:pPr>
            <a:r>
              <a:rPr lang="it-IT" sz="2000" dirty="0">
                <a:latin typeface="+mj-lt"/>
              </a:rPr>
              <a:t>- </a:t>
            </a:r>
            <a:r>
              <a:rPr lang="it-IT" sz="2000" dirty="0" err="1">
                <a:latin typeface="+mj-lt"/>
              </a:rPr>
              <a:t>highly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correlated</a:t>
            </a:r>
            <a:r>
              <a:rPr lang="it-IT" sz="2000" dirty="0">
                <a:latin typeface="+mj-lt"/>
              </a:rPr>
              <a:t> with the </a:t>
            </a:r>
            <a:r>
              <a:rPr lang="it-IT" sz="2000" dirty="0" err="1">
                <a:latin typeface="+mj-lt"/>
              </a:rPr>
              <a:t>endogenous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variable</a:t>
            </a:r>
            <a:r>
              <a:rPr lang="it-IT" sz="2000" dirty="0">
                <a:latin typeface="+mj-lt"/>
              </a:rPr>
              <a:t> and </a:t>
            </a:r>
          </a:p>
          <a:p>
            <a:pPr marL="12700"/>
            <a:r>
              <a:rPr lang="it-IT" sz="2000" dirty="0">
                <a:latin typeface="+mj-lt"/>
              </a:rPr>
              <a:t>- </a:t>
            </a:r>
            <a:r>
              <a:rPr lang="it-IT" sz="2000" dirty="0" err="1">
                <a:latin typeface="+mj-lt"/>
              </a:rPr>
              <a:t>uncorrelated</a:t>
            </a:r>
            <a:r>
              <a:rPr lang="it-IT" sz="2000" dirty="0">
                <a:latin typeface="+mj-lt"/>
              </a:rPr>
              <a:t> with the </a:t>
            </a:r>
            <a:r>
              <a:rPr lang="it-IT" sz="2000" dirty="0" err="1">
                <a:latin typeface="+mj-lt"/>
              </a:rPr>
              <a:t>error</a:t>
            </a:r>
            <a:r>
              <a:rPr lang="it-IT" sz="2000" dirty="0">
                <a:latin typeface="+mj-lt"/>
              </a:rPr>
              <a:t> </a:t>
            </a:r>
            <a:r>
              <a:rPr lang="it-IT" sz="2000" dirty="0" err="1">
                <a:latin typeface="+mj-lt"/>
              </a:rPr>
              <a:t>term</a:t>
            </a:r>
            <a:endParaRPr lang="it-IT" sz="2000" dirty="0">
              <a:latin typeface="+mj-lt"/>
            </a:endParaRPr>
          </a:p>
          <a:p>
            <a:endParaRPr lang="it-IT" sz="2000" dirty="0">
              <a:latin typeface="+mj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3A8329-1AB3-5F4B-B629-B3C4878EAD20}"/>
              </a:ext>
            </a:extLst>
          </p:cNvPr>
          <p:cNvCxnSpPr/>
          <p:nvPr/>
        </p:nvCxnSpPr>
        <p:spPr>
          <a:xfrm>
            <a:off x="7753350" y="5963485"/>
            <a:ext cx="1314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47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3F30-EDF3-124A-9207-1E9CFA67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881" y="456361"/>
            <a:ext cx="4279232" cy="572336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0070C0"/>
                </a:solidFill>
              </a:rPr>
              <a:t>GMM ARELLANO BOND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70E96-9A6F-9C47-945A-962BEEE66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4864" y="1025708"/>
                <a:ext cx="7112488" cy="17073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/>
                        <m:t>∆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𝑙𝑛𝑓𝑑𝑖𝑖𝑛𝑠𝑡𝑜𝑐𝑘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</m:sub>
                      </m:sSub>
                      <m:r>
                        <a:rPr lang="en-US" sz="1800" i="1"/>
                        <m:t>=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sSub>
                            <m:sSubPr>
                              <m:ctrlPr>
                                <a:rPr lang="it-IT" sz="1800" i="1"/>
                              </m:ctrlPr>
                            </m:sSubPr>
                            <m:e>
                              <m:r>
                                <a:rPr lang="en-US" sz="1800" i="1"/>
                                <m:t>𝛾</m:t>
                              </m:r>
                            </m:e>
                            <m:sub>
                              <m:r>
                                <a:rPr lang="en-US" sz="1800" i="1"/>
                                <m:t>1</m:t>
                              </m:r>
                            </m:sub>
                          </m:sSub>
                          <m:r>
                            <a:rPr lang="en-US" sz="1800" i="1"/>
                            <m:t>∆</m:t>
                          </m:r>
                          <m:r>
                            <a:rPr lang="en-US" sz="1800" i="1"/>
                            <m:t>𝑙𝑛𝑓𝑑𝑖𝑖𝑛𝑠𝑡𝑜𝑐𝑘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  <m:r>
                            <a:rPr lang="en-US" sz="1800" i="1"/>
                            <m:t>−1</m:t>
                          </m:r>
                        </m:sub>
                      </m:sSub>
                      <m:r>
                        <a:rPr lang="en-US" sz="1800" i="1"/>
                        <m:t>+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𝛽</m:t>
                          </m:r>
                        </m:e>
                        <m:sub>
                          <m:r>
                            <a:rPr lang="en-US" sz="1800" i="1"/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∆</m:t>
                          </m:r>
                          <m:r>
                            <a:rPr lang="en-US" sz="1800" i="1"/>
                            <m:t>𝑑𝑡𝑡𝑎𝑔𝑒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</m:sub>
                      </m:sSub>
                      <m:r>
                        <a:rPr lang="en-US" sz="1800" i="1"/>
                        <m:t>+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𝛽</m:t>
                          </m:r>
                        </m:e>
                        <m:sub>
                          <m:r>
                            <a:rPr lang="en-US" sz="1800" i="1"/>
                            <m:t>2</m:t>
                          </m:r>
                        </m:sub>
                      </m:sSub>
                      <m:r>
                        <a:rPr lang="en-US" sz="1800" i="1"/>
                        <m:t>∆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𝑏𝑖𝑡𝑎𝑔𝑒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</m:sub>
                      </m:sSub>
                      <m:r>
                        <a:rPr lang="en-US" sz="1800" i="1"/>
                        <m:t>+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𝛽</m:t>
                          </m:r>
                        </m:e>
                        <m:sub>
                          <m:r>
                            <a:rPr lang="en-US" sz="1800" i="1"/>
                            <m:t>3</m:t>
                          </m:r>
                        </m:sub>
                      </m:sSub>
                      <m:r>
                        <a:rPr lang="en-US" sz="1800" i="1"/>
                        <m:t>∆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h𝑜𝑠𝑡𝑔𝑑𝑝𝑡𝑜𝑡𝑙𝑛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</m:sub>
                      </m:sSub>
                      <m:r>
                        <a:rPr lang="en-US" sz="1800" i="1"/>
                        <m:t>+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𝛽</m:t>
                          </m:r>
                        </m:e>
                        <m:sub>
                          <m:r>
                            <a:rPr lang="en-US" sz="1800" i="1"/>
                            <m:t>4</m:t>
                          </m:r>
                        </m:sub>
                      </m:sSub>
                      <m:r>
                        <a:rPr lang="en-US" sz="1800" i="1"/>
                        <m:t>∆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h𝑜𝑠𝑡𝑔𝑑𝑝𝑝𝑐𝑙𝑛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</m:sub>
                      </m:sSub>
                      <m:r>
                        <a:rPr lang="en-US" sz="1800" i="1"/>
                        <m:t>+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𝛽</m:t>
                          </m:r>
                        </m:e>
                        <m:sub>
                          <m:r>
                            <a:rPr lang="en-US" sz="1800" i="1"/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∆</m:t>
                          </m:r>
                          <m:r>
                            <a:rPr lang="en-US" sz="1800" i="1"/>
                            <m:t>h𝑜𝑠𝑡𝑖𝑛𝑓𝑙𝑙𝑛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</m:sub>
                      </m:sSub>
                      <m:r>
                        <a:rPr lang="en-US" sz="1800" i="1"/>
                        <m:t>+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𝛽</m:t>
                          </m:r>
                        </m:e>
                        <m:sub>
                          <m:r>
                            <a:rPr lang="en-US" sz="1800" i="1"/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∆</m:t>
                          </m:r>
                          <m:r>
                            <a:rPr lang="en-US" sz="1800" i="1"/>
                            <m:t>h𝑜𝑠𝑡𝑡𝑟𝑎𝑑𝑒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</m:sub>
                      </m:sSub>
                      <m:r>
                        <a:rPr lang="en-US" sz="1800" i="1"/>
                        <m:t>+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𝛽</m:t>
                          </m:r>
                        </m:e>
                        <m:sub>
                          <m:r>
                            <a:rPr lang="en-US" sz="1800" i="1"/>
                            <m:t>7</m:t>
                          </m:r>
                        </m:sub>
                      </m:sSub>
                      <m:r>
                        <a:rPr lang="en-US" sz="1800" i="1"/>
                        <m:t>∆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𝑟𝑡𝑎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</m:sub>
                      </m:sSub>
                      <m:r>
                        <a:rPr lang="en-US" sz="1800" i="1"/>
                        <m:t>+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sSub>
                            <m:sSubPr>
                              <m:ctrlPr>
                                <a:rPr lang="it-IT" sz="1800" i="1"/>
                              </m:ctrlPr>
                            </m:sSubPr>
                            <m:e>
                              <m:r>
                                <a:rPr lang="en-US" sz="1800" i="1"/>
                                <m:t>𝛽</m:t>
                              </m:r>
                            </m:e>
                            <m:sub>
                              <m:r>
                                <a:rPr lang="en-US" sz="1800" i="1"/>
                                <m:t>𝑘</m:t>
                              </m:r>
                            </m:sub>
                          </m:sSub>
                          <m:r>
                            <a:rPr lang="en-US" sz="1800" i="1"/>
                            <m:t>∆</m:t>
                          </m:r>
                          <m:r>
                            <a:rPr lang="en-US" sz="1800" i="1"/>
                            <m:t>𝑦𝑒𝑎𝑟𝑑𝑢𝑚𝑚𝑦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</m:sub>
                      </m:sSub>
                      <m:r>
                        <a:rPr lang="en-US" sz="1800" i="1"/>
                        <m:t>+</m:t>
                      </m:r>
                      <m:sSub>
                        <m:sSubPr>
                          <m:ctrlPr>
                            <a:rPr lang="it-IT" sz="1800" i="1"/>
                          </m:ctrlPr>
                        </m:sSubPr>
                        <m:e>
                          <m:r>
                            <a:rPr lang="en-US" sz="1800" i="1"/>
                            <m:t>∆</m:t>
                          </m:r>
                          <m:r>
                            <a:rPr lang="en-US" sz="1800" i="1"/>
                            <m:t>𝑣</m:t>
                          </m:r>
                        </m:e>
                        <m:sub>
                          <m:r>
                            <a:rPr lang="en-US" sz="1800" i="1"/>
                            <m:t>𝑖</m:t>
                          </m:r>
                          <m:r>
                            <a:rPr lang="en-US" sz="1800" i="1"/>
                            <m:t>,</m:t>
                          </m:r>
                          <m:r>
                            <a:rPr lang="en-US" sz="1800" i="1"/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1800" dirty="0"/>
              </a:p>
              <a:p>
                <a:endParaRPr lang="it-IT" sz="1800" dirty="0"/>
              </a:p>
              <a:p>
                <a:endParaRPr lang="it-IT" sz="1800" dirty="0"/>
              </a:p>
              <a:p>
                <a:endParaRPr lang="it-IT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70E96-9A6F-9C47-945A-962BEEE66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4864" y="1025708"/>
                <a:ext cx="7112488" cy="17073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6669C8C-E647-D64C-8251-05C260B6A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0166" y="-484017"/>
            <a:ext cx="3664940" cy="1699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9C527-47BA-9143-9D79-5D24A9349427}"/>
              </a:ext>
            </a:extLst>
          </p:cNvPr>
          <p:cNvCxnSpPr>
            <a:cxnSpLocks/>
          </p:cNvCxnSpPr>
          <p:nvPr/>
        </p:nvCxnSpPr>
        <p:spPr>
          <a:xfrm>
            <a:off x="-20785" y="971547"/>
            <a:ext cx="12212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5CE00A20-5302-3747-A5D7-BF3090D5C30D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82"/>
          <a:stretch/>
        </p:blipFill>
        <p:spPr>
          <a:xfrm>
            <a:off x="140349" y="1015842"/>
            <a:ext cx="4476377" cy="7335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F71CE7-2670-364D-8E67-5E4C915BA370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79" y="2344987"/>
            <a:ext cx="9362021" cy="63528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F758245-A89F-3648-BBE1-0289E1FB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7</a:t>
            </a:fld>
            <a:endParaRPr lang="it-IT"/>
          </a:p>
        </p:txBody>
      </p:sp>
      <p:pic>
        <p:nvPicPr>
          <p:cNvPr id="12" name="Picture 11" descr="Table&#10;&#10;Description automatically generated">
            <a:extLst>
              <a:ext uri="{FF2B5EF4-FFF2-40B4-BE49-F238E27FC236}">
                <a16:creationId xmlns:a16="http://schemas.microsoft.com/office/drawing/2014/main" id="{C10655D7-6EBD-E840-8CC9-EDEB0DE99920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37" b="48062"/>
          <a:stretch/>
        </p:blipFill>
        <p:spPr bwMode="auto">
          <a:xfrm>
            <a:off x="1080165" y="3075779"/>
            <a:ext cx="4629217" cy="15658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F8C06659-3D33-B440-A33B-DB1EAC54FD2A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429" b="7296"/>
          <a:stretch/>
        </p:blipFill>
        <p:spPr bwMode="auto">
          <a:xfrm>
            <a:off x="1047729" y="4641678"/>
            <a:ext cx="4694090" cy="19372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 descr="Table&#10;&#10;Description automatically generated">
            <a:extLst>
              <a:ext uri="{FF2B5EF4-FFF2-40B4-BE49-F238E27FC236}">
                <a16:creationId xmlns:a16="http://schemas.microsoft.com/office/drawing/2014/main" id="{9B0A6B18-F8B2-5D4D-ADDC-BFCB39F0E88B}"/>
              </a:ext>
            </a:extLst>
          </p:cNvPr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26"/>
          <a:stretch/>
        </p:blipFill>
        <p:spPr bwMode="auto">
          <a:xfrm>
            <a:off x="6207452" y="4920654"/>
            <a:ext cx="4488180" cy="1407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E190B6-F0DC-F346-9298-4A00C70EF628}"/>
              </a:ext>
            </a:extLst>
          </p:cNvPr>
          <p:cNvSpPr txBox="1"/>
          <p:nvPr/>
        </p:nvSpPr>
        <p:spPr>
          <a:xfrm>
            <a:off x="496704" y="646283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…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030E529-D6CA-E54C-8BC5-3A290B679FB8}"/>
                  </a:ext>
                </a:extLst>
              </p14:cNvPr>
              <p14:cNvContentPartPr/>
              <p14:nvPr/>
            </p14:nvContentPartPr>
            <p14:xfrm>
              <a:off x="8228583" y="1561257"/>
              <a:ext cx="72072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030E529-D6CA-E54C-8BC5-3A290B679FB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10943" y="1525257"/>
                <a:ext cx="7563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92A3C0E-D5F5-EF4C-BE40-7E8A1AD6F2D2}"/>
                  </a:ext>
                </a:extLst>
              </p14:cNvPr>
              <p14:cNvContentPartPr/>
              <p14:nvPr/>
            </p14:nvContentPartPr>
            <p14:xfrm>
              <a:off x="9627543" y="1590777"/>
              <a:ext cx="837000" cy="5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92A3C0E-D5F5-EF4C-BE40-7E8A1AD6F2D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09903" y="1555137"/>
                <a:ext cx="8726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BD38443-73A7-8142-8159-0F7265911F22}"/>
                  </a:ext>
                </a:extLst>
              </p14:cNvPr>
              <p14:cNvContentPartPr/>
              <p14:nvPr/>
            </p14:nvContentPartPr>
            <p14:xfrm>
              <a:off x="1382027" y="5534560"/>
              <a:ext cx="377280" cy="266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BD38443-73A7-8142-8159-0F7265911F2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64027" y="5498560"/>
                <a:ext cx="41292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E9A73E2-98EF-C648-80D0-F8E9B5BAD07B}"/>
                  </a:ext>
                </a:extLst>
              </p14:cNvPr>
              <p14:cNvContentPartPr/>
              <p14:nvPr/>
            </p14:nvContentPartPr>
            <p14:xfrm>
              <a:off x="1371123" y="5661344"/>
              <a:ext cx="40392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E9A73E2-98EF-C648-80D0-F8E9B5BAD07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53483" y="5625704"/>
                <a:ext cx="439560" cy="72000"/>
              </a:xfrm>
              <a:prstGeom prst="rect">
                <a:avLst/>
              </a:prstGeom>
            </p:spPr>
          </p:pic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C11A8B7-1135-584B-A761-6F09D1E4EB68}"/>
              </a:ext>
            </a:extLst>
          </p:cNvPr>
          <p:cNvCxnSpPr>
            <a:cxnSpLocks/>
          </p:cNvCxnSpPr>
          <p:nvPr/>
        </p:nvCxnSpPr>
        <p:spPr>
          <a:xfrm flipH="1">
            <a:off x="8381108" y="1561257"/>
            <a:ext cx="70434" cy="197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0168FA8-F53C-D24B-8D3F-AE400B177FBD}"/>
              </a:ext>
            </a:extLst>
          </p:cNvPr>
          <p:cNvSpPr txBox="1"/>
          <p:nvPr/>
        </p:nvSpPr>
        <p:spPr>
          <a:xfrm>
            <a:off x="6516977" y="3532089"/>
            <a:ext cx="48646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A variable that measures the years passed since becoming effective, with the year of conclusion set on one.</a:t>
            </a:r>
            <a:endParaRPr lang="it-IT" sz="1400" dirty="0">
              <a:latin typeface="+mj-lt"/>
            </a:endParaRPr>
          </a:p>
          <a:p>
            <a:endParaRPr lang="it-IT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050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3F30-EDF3-124A-9207-1E9CFA67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6855" y="678694"/>
            <a:ext cx="1263316" cy="369332"/>
          </a:xfrm>
        </p:spPr>
        <p:txBody>
          <a:bodyPr>
            <a:noAutofit/>
          </a:bodyPr>
          <a:lstStyle/>
          <a:p>
            <a:r>
              <a:rPr lang="it-IT" sz="3200" dirty="0">
                <a:solidFill>
                  <a:srgbClr val="0070C0"/>
                </a:solidFill>
              </a:rPr>
              <a:t>TESTS</a:t>
            </a:r>
          </a:p>
        </p:txBody>
      </p:sp>
      <p:pic>
        <p:nvPicPr>
          <p:cNvPr id="4" name="Picture 3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6669C8C-E647-D64C-8251-05C260B6A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0166" y="-350667"/>
            <a:ext cx="3664940" cy="1699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9C527-47BA-9143-9D79-5D24A9349427}"/>
              </a:ext>
            </a:extLst>
          </p:cNvPr>
          <p:cNvCxnSpPr>
            <a:cxnSpLocks/>
          </p:cNvCxnSpPr>
          <p:nvPr/>
        </p:nvCxnSpPr>
        <p:spPr>
          <a:xfrm>
            <a:off x="-20785" y="1142997"/>
            <a:ext cx="12212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EEF3F44-B5BA-604D-95A6-4B01663F008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808" y="1733192"/>
            <a:ext cx="6219087" cy="1883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65345E-7BBE-AB43-BF74-BE4E288C455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76" y="4124477"/>
            <a:ext cx="6516932" cy="557854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2448B713-5EE7-9345-984E-A024E10CA95F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76" y="4936618"/>
            <a:ext cx="4083836" cy="129985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1CB709-7854-2B4B-8621-9E1A325F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8</a:t>
            </a:fld>
            <a:endParaRPr lang="it-IT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8F8C8-642C-AC45-B086-61129E9F0AB0}"/>
              </a:ext>
            </a:extLst>
          </p:cNvPr>
          <p:cNvSpPr txBox="1"/>
          <p:nvPr/>
        </p:nvSpPr>
        <p:spPr>
          <a:xfrm>
            <a:off x="318676" y="1271453"/>
            <a:ext cx="855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+mj-lt"/>
              </a:rPr>
              <a:t>GMM Arellano Bond </a:t>
            </a:r>
            <a:r>
              <a:rPr lang="it-IT" dirty="0" err="1">
                <a:latin typeface="+mj-lt"/>
              </a:rPr>
              <a:t>is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not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valid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if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there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is</a:t>
            </a:r>
            <a:r>
              <a:rPr lang="it-IT" dirty="0">
                <a:latin typeface="+mj-lt"/>
              </a:rPr>
              <a:t> serial </a:t>
            </a:r>
            <a:r>
              <a:rPr lang="it-IT" dirty="0" err="1">
                <a:latin typeface="+mj-lt"/>
              </a:rPr>
              <a:t>correlation</a:t>
            </a:r>
            <a:r>
              <a:rPr lang="it-IT" dirty="0">
                <a:latin typeface="+mj-lt"/>
              </a:rPr>
              <a:t> in the first </a:t>
            </a:r>
            <a:r>
              <a:rPr lang="it-IT" dirty="0" err="1">
                <a:latin typeface="+mj-lt"/>
              </a:rPr>
              <a:t>differenced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residual</a:t>
            </a:r>
            <a:endParaRPr lang="it-IT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81B5ED-3A0A-4245-B3C3-BC28C7FDC775}"/>
                  </a:ext>
                </a:extLst>
              </p:cNvPr>
              <p:cNvSpPr txBox="1"/>
              <p:nvPr/>
            </p:nvSpPr>
            <p:spPr>
              <a:xfrm>
                <a:off x="318676" y="1657061"/>
                <a:ext cx="3931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latin typeface="+mj-lt"/>
                  </a:rPr>
                  <a:t>H0:</a:t>
                </a:r>
                <a14:m>
                  <m:oMath xmlns:m="http://schemas.openxmlformats.org/officeDocument/2006/math">
                    <m:r>
                      <a:rPr lang="en-US" i="1">
                        <a:latin typeface="+mj-lt"/>
                      </a:rPr>
                      <m:t>𝑐𝑜𝑣</m:t>
                    </m:r>
                    <m:d>
                      <m:dPr>
                        <m:ctrlPr>
                          <a:rPr lang="it-IT" i="1">
                            <a:latin typeface="+mj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+mj-lt"/>
                              </a:rPr>
                              <m:t>∆</m:t>
                            </m:r>
                            <m:r>
                              <a:rPr lang="en-US" i="1"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+mj-lt"/>
                              </a:rPr>
                              <m:t>𝑖𝑡</m:t>
                            </m:r>
                          </m:sub>
                        </m:sSub>
                        <m:r>
                          <a:rPr lang="en-US" i="1">
                            <a:latin typeface="+mj-lt"/>
                          </a:rPr>
                          <m:t>,</m:t>
                        </m:r>
                        <m:sSub>
                          <m:sSubPr>
                            <m:ctrlPr>
                              <a:rPr lang="it-IT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+mj-lt"/>
                              </a:rPr>
                              <m:t>∆</m:t>
                            </m:r>
                            <m:r>
                              <a:rPr lang="en-US" i="1">
                                <a:latin typeface="+mj-lt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+mj-lt"/>
                              </a:rPr>
                              <m:t>𝑖𝑡</m:t>
                            </m:r>
                            <m:r>
                              <a:rPr lang="en-US" i="1">
                                <a:latin typeface="+mj-lt"/>
                              </a:rPr>
                              <m:t>−</m:t>
                            </m:r>
                            <m:r>
                              <a:rPr lang="en-US" i="1">
                                <a:latin typeface="+mj-lt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+mj-lt"/>
                      </a:rPr>
                      <m:t>=0</m:t>
                    </m:r>
                  </m:oMath>
                </a14:m>
                <a:r>
                  <a:rPr lang="en-US" dirty="0">
                    <a:latin typeface="+mj-lt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+mj-lt"/>
                      </a:rPr>
                      <m:t>𝑘</m:t>
                    </m:r>
                    <m:r>
                      <a:rPr lang="en-US" i="1">
                        <a:latin typeface="+mj-lt"/>
                      </a:rPr>
                      <m:t>≥2</m:t>
                    </m:r>
                  </m:oMath>
                </a14:m>
                <a:endParaRPr lang="it-IT" dirty="0">
                  <a:latin typeface="+mj-lt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81B5ED-3A0A-4245-B3C3-BC28C7FDC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76" y="1657061"/>
                <a:ext cx="3931107" cy="369332"/>
              </a:xfrm>
              <a:prstGeom prst="rect">
                <a:avLst/>
              </a:prstGeom>
              <a:blipFill>
                <a:blip r:embed="rId7"/>
                <a:stretch>
                  <a:fillRect l="-965" t="-3226" b="-225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62416B-36AA-F84B-9785-E558DBB6C77D}"/>
                  </a:ext>
                </a:extLst>
              </p:cNvPr>
              <p:cNvSpPr txBox="1"/>
              <p:nvPr/>
            </p:nvSpPr>
            <p:spPr>
              <a:xfrm>
                <a:off x="318676" y="2268139"/>
                <a:ext cx="47246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+mj-lt"/>
                          </a:rPr>
                        </m:ctrlPr>
                      </m:sSubPr>
                      <m:e>
                        <m:r>
                          <a:rPr lang="en-US" i="1">
                            <a:latin typeface="+mj-lt"/>
                          </a:rPr>
                          <m:t>∆</m:t>
                        </m:r>
                        <m:r>
                          <a:rPr lang="en-US" i="1">
                            <a:latin typeface="+mj-lt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+mj-lt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is naturally correlated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+mj-lt"/>
                          </a:rPr>
                        </m:ctrlPr>
                      </m:sSubPr>
                      <m:e>
                        <m:r>
                          <a:rPr lang="en-US" i="1">
                            <a:latin typeface="+mj-lt"/>
                          </a:rPr>
                          <m:t>∆</m:t>
                        </m:r>
                        <m:r>
                          <a:rPr lang="en-US" i="1">
                            <a:latin typeface="+mj-lt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+mj-lt"/>
                          </a:rPr>
                          <m:t>𝑖𝑡</m:t>
                        </m:r>
                        <m:r>
                          <a:rPr lang="en-US" i="1">
                            <a:latin typeface="+mj-lt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, but not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+mj-lt"/>
                          </a:rPr>
                        </m:ctrlPr>
                      </m:sSubPr>
                      <m:e>
                        <m:r>
                          <a:rPr lang="en-US" i="1">
                            <a:latin typeface="+mj-lt"/>
                          </a:rPr>
                          <m:t>∆</m:t>
                        </m:r>
                        <m:r>
                          <a:rPr lang="en-US" i="1">
                            <a:latin typeface="+mj-lt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+mj-lt"/>
                          </a:rPr>
                          <m:t>𝑖𝑡</m:t>
                        </m:r>
                        <m:r>
                          <a:rPr lang="en-US" i="1">
                            <a:latin typeface="+mj-lt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</a:t>
                </a:r>
                <a:endParaRPr lang="it-IT" dirty="0">
                  <a:latin typeface="+mj-lt"/>
                </a:endParaRPr>
              </a:p>
              <a:p>
                <a:endParaRPr lang="it-IT" dirty="0">
                  <a:latin typeface="+mj-lt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62416B-36AA-F84B-9785-E558DBB6C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76" y="2268139"/>
                <a:ext cx="4724611" cy="923330"/>
              </a:xfrm>
              <a:prstGeom prst="rect">
                <a:avLst/>
              </a:prstGeom>
              <a:blipFill>
                <a:blip r:embed="rId8"/>
                <a:stretch>
                  <a:fillRect l="-804" t="-274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2DC988-D879-4A44-950D-802767BEFBA5}"/>
                  </a:ext>
                </a:extLst>
              </p:cNvPr>
              <p:cNvSpPr txBox="1"/>
              <p:nvPr/>
            </p:nvSpPr>
            <p:spPr>
              <a:xfrm>
                <a:off x="5777324" y="5339817"/>
                <a:ext cx="4708754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latin typeface="+mj-lt"/>
                  </a:rPr>
                  <a:t>H0: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∆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it-IT" dirty="0">
                  <a:latin typeface="+mj-lt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2DC988-D879-4A44-950D-802767BEF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324" y="5339817"/>
                <a:ext cx="4708754" cy="404983"/>
              </a:xfrm>
              <a:prstGeom prst="rect">
                <a:avLst/>
              </a:prstGeom>
              <a:blipFill>
                <a:blip r:embed="rId9"/>
                <a:stretch>
                  <a:fillRect l="-1075" b="-218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E99D4B87-7412-2F43-845A-580717F4D93B}"/>
              </a:ext>
            </a:extLst>
          </p:cNvPr>
          <p:cNvSpPr/>
          <p:nvPr/>
        </p:nvSpPr>
        <p:spPr>
          <a:xfrm>
            <a:off x="5777324" y="577695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+mj-lt"/>
              </a:rPr>
              <a:t>Only for a homoscedastic error term, the </a:t>
            </a:r>
            <a:r>
              <a:rPr lang="en-US" dirty="0" err="1">
                <a:latin typeface="+mj-lt"/>
              </a:rPr>
              <a:t>Sargan</a:t>
            </a:r>
            <a:r>
              <a:rPr lang="en-US" dirty="0">
                <a:latin typeface="+mj-lt"/>
              </a:rPr>
              <a:t> test has an asymptotic chi-squared distribution</a:t>
            </a:r>
            <a:endParaRPr lang="it-IT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CBCDDD-DD67-0B40-A350-9AD233FD5756}"/>
              </a:ext>
            </a:extLst>
          </p:cNvPr>
          <p:cNvSpPr/>
          <p:nvPr/>
        </p:nvSpPr>
        <p:spPr>
          <a:xfrm>
            <a:off x="5777324" y="462384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+mj-lt"/>
              </a:rPr>
              <a:t>The null implies that all instruments are valid (exogenous) and the model is correctly specified.</a:t>
            </a:r>
            <a:endParaRPr lang="it-IT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952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70E96-9A6F-9C47-945A-962BEEE66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730" y="1253330"/>
                <a:ext cx="1174474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2400" dirty="0" err="1">
                    <a:latin typeface="+mj-lt"/>
                  </a:rPr>
                  <a:t>When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rejecting</a:t>
                </a:r>
                <a:r>
                  <a:rPr lang="it-IT" sz="2400" dirty="0">
                    <a:latin typeface="+mj-lt"/>
                  </a:rPr>
                  <a:t> the </a:t>
                </a:r>
                <a:r>
                  <a:rPr lang="it-IT" sz="2400" dirty="0" err="1">
                    <a:latin typeface="+mj-lt"/>
                  </a:rPr>
                  <a:t>Sargan</a:t>
                </a:r>
                <a:r>
                  <a:rPr lang="it-IT" sz="2400" dirty="0">
                    <a:latin typeface="+mj-lt"/>
                  </a:rPr>
                  <a:t> Test, </a:t>
                </a:r>
                <a:r>
                  <a:rPr lang="it-IT" sz="2400" dirty="0" err="1">
                    <a:latin typeface="+mj-lt"/>
                  </a:rPr>
                  <a:t>it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is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recommended</a:t>
                </a:r>
                <a:r>
                  <a:rPr lang="it-IT" sz="2400" dirty="0">
                    <a:latin typeface="+mj-lt"/>
                  </a:rPr>
                  <a:t> to </a:t>
                </a:r>
                <a:r>
                  <a:rPr lang="it-IT" sz="2400" dirty="0" err="1">
                    <a:latin typeface="+mj-lt"/>
                  </a:rPr>
                  <a:t>apply</a:t>
                </a:r>
                <a:r>
                  <a:rPr lang="it-IT" sz="2400" dirty="0">
                    <a:latin typeface="+mj-lt"/>
                  </a:rPr>
                  <a:t> some </a:t>
                </a:r>
                <a:r>
                  <a:rPr lang="it-IT" sz="2400" dirty="0" err="1">
                    <a:latin typeface="+mj-lt"/>
                  </a:rPr>
                  <a:t>restrictions</a:t>
                </a:r>
                <a:r>
                  <a:rPr lang="it-IT" sz="2400" dirty="0">
                    <a:latin typeface="+mj-lt"/>
                  </a:rPr>
                  <a:t> to the </a:t>
                </a:r>
                <a:r>
                  <a:rPr lang="it-IT" sz="2400" dirty="0" err="1">
                    <a:latin typeface="+mj-lt"/>
                  </a:rPr>
                  <a:t>generations</a:t>
                </a:r>
                <a:r>
                  <a:rPr lang="it-IT" sz="2400" dirty="0">
                    <a:latin typeface="+mj-lt"/>
                  </a:rPr>
                  <a:t> of </a:t>
                </a:r>
                <a:r>
                  <a:rPr lang="it-IT" sz="2400" dirty="0" err="1">
                    <a:latin typeface="+mj-lt"/>
                  </a:rPr>
                  <a:t>instruments</a:t>
                </a:r>
                <a:r>
                  <a:rPr lang="it-IT" sz="2400" dirty="0">
                    <a:latin typeface="+mj-lt"/>
                  </a:rPr>
                  <a:t>.</a:t>
                </a:r>
              </a:p>
              <a:p>
                <a:pPr marL="0" indent="0">
                  <a:buNone/>
                </a:pPr>
                <a:endParaRPr lang="it-IT" sz="5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it-IT" sz="2400" dirty="0" err="1">
                    <a:latin typeface="+mj-lt"/>
                  </a:rPr>
                  <a:t>Restricting</a:t>
                </a:r>
                <a:r>
                  <a:rPr lang="it-IT" sz="2400" dirty="0">
                    <a:latin typeface="+mj-lt"/>
                  </a:rPr>
                  <a:t> the </a:t>
                </a:r>
                <a:r>
                  <a:rPr lang="it-IT" sz="2400" dirty="0" err="1">
                    <a:latin typeface="+mj-lt"/>
                  </a:rPr>
                  <a:t>number</a:t>
                </a:r>
                <a:r>
                  <a:rPr lang="it-IT" sz="2400" dirty="0">
                    <a:latin typeface="+mj-lt"/>
                  </a:rPr>
                  <a:t> of </a:t>
                </a:r>
                <a:r>
                  <a:rPr lang="it-IT" sz="2400" dirty="0" err="1">
                    <a:latin typeface="+mj-lt"/>
                  </a:rPr>
                  <a:t>lags</a:t>
                </a:r>
                <a:r>
                  <a:rPr lang="it-IT" sz="2400" dirty="0">
                    <a:latin typeface="+mj-lt"/>
                  </a:rPr>
                  <a:t> of </a:t>
                </a:r>
                <a:r>
                  <a:rPr lang="it-IT" sz="2400" dirty="0" err="1">
                    <a:latin typeface="+mj-lt"/>
                  </a:rPr>
                  <a:t>dependent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variable</a:t>
                </a:r>
                <a:r>
                  <a:rPr lang="it-IT" sz="2400" dirty="0">
                    <a:latin typeface="+mj-lt"/>
                  </a:rPr>
                  <a:t> and the </a:t>
                </a:r>
                <a:r>
                  <a:rPr lang="it-IT" sz="2400" dirty="0" err="1">
                    <a:latin typeface="+mj-lt"/>
                  </a:rPr>
                  <a:t>lags</a:t>
                </a:r>
                <a:r>
                  <a:rPr lang="it-IT" sz="2400" dirty="0">
                    <a:latin typeface="+mj-lt"/>
                  </a:rPr>
                  <a:t> of the </a:t>
                </a:r>
                <a:r>
                  <a:rPr lang="it-IT" sz="2400" dirty="0" err="1">
                    <a:latin typeface="+mj-lt"/>
                  </a:rPr>
                  <a:t>predetermined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variables</a:t>
                </a:r>
                <a:r>
                  <a:rPr lang="it-IT" sz="240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endParaRPr lang="it-IT" sz="2400" dirty="0">
                  <a:latin typeface="+mj-lt"/>
                </a:endParaRPr>
              </a:p>
              <a:p>
                <a:pPr marL="0" indent="0">
                  <a:buNone/>
                </a:pPr>
                <a:endParaRPr lang="it-IT" sz="5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it-IT" sz="2400" dirty="0">
                    <a:latin typeface="+mj-lt"/>
                  </a:rPr>
                  <a:t>H0 </a:t>
                </a:r>
                <a:r>
                  <a:rPr lang="it-IT" sz="2400" dirty="0" err="1">
                    <a:latin typeface="+mj-lt"/>
                  </a:rPr>
                  <a:t>is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still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rejected</a:t>
                </a:r>
                <a:r>
                  <a:rPr lang="it-IT" sz="2400" dirty="0">
                    <a:latin typeface="+mj-lt"/>
                  </a:rPr>
                  <a:t>, the model </a:t>
                </a:r>
                <a:r>
                  <a:rPr lang="it-IT" sz="2400" dirty="0" err="1">
                    <a:latin typeface="+mj-lt"/>
                  </a:rPr>
                  <a:t>is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still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not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valid</a:t>
                </a:r>
                <a:endParaRPr lang="it-IT" sz="24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it-IT" sz="2400" dirty="0" err="1">
                    <a:latin typeface="+mj-lt"/>
                  </a:rPr>
                  <a:t>Since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z</a:t>
                </a:r>
                <a:r>
                  <a:rPr lang="it-IT" sz="2400" dirty="0">
                    <a:latin typeface="+mj-lt"/>
                  </a:rPr>
                  <a:t> </a:t>
                </a:r>
                <a:r>
                  <a:rPr lang="it-IT" sz="2400" dirty="0" err="1">
                    <a:latin typeface="+mj-lt"/>
                  </a:rPr>
                  <a:t>statistic</a:t>
                </a:r>
                <a:r>
                  <a:rPr lang="it-IT" sz="2400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+mj-lt"/>
                          </a:rPr>
                        </m:ctrlPr>
                      </m:sSubPr>
                      <m:e>
                        <m:r>
                          <a:rPr lang="en-US" sz="2000" i="1">
                            <a:latin typeface="+mj-lt"/>
                          </a:rPr>
                          <m:t>h𝑜𝑠𝑡𝑔𝑑𝑝𝑡𝑜𝑡𝑙𝑛</m:t>
                        </m:r>
                      </m:e>
                      <m:sub>
                        <m:r>
                          <a:rPr lang="en-US" sz="2000" i="1">
                            <a:latin typeface="+mj-lt"/>
                          </a:rPr>
                          <m:t>𝑖</m:t>
                        </m:r>
                        <m:r>
                          <a:rPr lang="en-US" sz="2000" i="1">
                            <a:latin typeface="+mj-lt"/>
                          </a:rPr>
                          <m:t>,</m:t>
                        </m:r>
                        <m:r>
                          <a:rPr lang="en-US" sz="2000" i="1">
                            <a:latin typeface="+mj-lt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it-IT" sz="1800" dirty="0">
                    <a:effectLst/>
                    <a:latin typeface="+mj-lt"/>
                  </a:rPr>
                  <a:t> </a:t>
                </a:r>
                <a:r>
                  <a:rPr lang="it-IT" sz="2400" dirty="0">
                    <a:effectLst/>
                    <a:latin typeface="+mj-lt"/>
                  </a:rPr>
                  <a:t> </a:t>
                </a:r>
                <a:r>
                  <a:rPr lang="it-IT" sz="2400" dirty="0" err="1">
                    <a:effectLst/>
                    <a:latin typeface="+mj-lt"/>
                  </a:rPr>
                  <a:t>is</a:t>
                </a:r>
                <a:r>
                  <a:rPr lang="it-IT" sz="2400" dirty="0">
                    <a:effectLst/>
                    <a:latin typeface="+mj-lt"/>
                  </a:rPr>
                  <a:t> </a:t>
                </a:r>
                <a:r>
                  <a:rPr lang="it-IT" sz="2400" dirty="0" err="1">
                    <a:effectLst/>
                    <a:latin typeface="+mj-lt"/>
                  </a:rPr>
                  <a:t>very</a:t>
                </a:r>
                <a:r>
                  <a:rPr lang="it-IT" sz="2400" dirty="0">
                    <a:effectLst/>
                    <a:latin typeface="+mj-lt"/>
                  </a:rPr>
                  <a:t> high, </a:t>
                </a:r>
                <a:r>
                  <a:rPr lang="it-IT" sz="2400" dirty="0" err="1">
                    <a:effectLst/>
                    <a:latin typeface="+mj-lt"/>
                  </a:rPr>
                  <a:t>this</a:t>
                </a:r>
                <a:r>
                  <a:rPr lang="it-IT" sz="2400" dirty="0">
                    <a:effectLst/>
                    <a:latin typeface="+mj-lt"/>
                  </a:rPr>
                  <a:t> </a:t>
                </a:r>
                <a:r>
                  <a:rPr lang="it-IT" sz="2400" dirty="0" err="1">
                    <a:effectLst/>
                    <a:latin typeface="+mj-lt"/>
                  </a:rPr>
                  <a:t>may</a:t>
                </a:r>
                <a:r>
                  <a:rPr lang="it-IT" sz="2400" dirty="0">
                    <a:effectLst/>
                    <a:latin typeface="+mj-lt"/>
                  </a:rPr>
                  <a:t> be an </a:t>
                </a:r>
                <a:r>
                  <a:rPr lang="it-IT" sz="2400" dirty="0" err="1">
                    <a:effectLst/>
                    <a:latin typeface="+mj-lt"/>
                  </a:rPr>
                  <a:t>indicator</a:t>
                </a:r>
                <a:r>
                  <a:rPr lang="it-IT" sz="2400" dirty="0">
                    <a:effectLst/>
                    <a:latin typeface="+mj-lt"/>
                  </a:rPr>
                  <a:t> of </a:t>
                </a:r>
                <a:r>
                  <a:rPr lang="it-IT" sz="2400" dirty="0" err="1">
                    <a:effectLst/>
                    <a:latin typeface="+mj-lt"/>
                  </a:rPr>
                  <a:t>endogeneity</a:t>
                </a:r>
                <a:r>
                  <a:rPr lang="it-IT" sz="2400" dirty="0">
                    <a:latin typeface="+mj-lt"/>
                  </a:rPr>
                  <a:t>.</a:t>
                </a:r>
              </a:p>
              <a:p>
                <a:pPr marL="0" indent="0">
                  <a:buNone/>
                </a:pPr>
                <a:endParaRPr lang="it-IT" sz="2400" dirty="0">
                  <a:latin typeface="+mj-lt"/>
                </a:endParaRPr>
              </a:p>
              <a:p>
                <a:pPr marL="0" indent="0">
                  <a:buNone/>
                </a:pPr>
                <a:endParaRPr lang="it-IT" sz="2400" dirty="0">
                  <a:latin typeface="+mj-lt"/>
                </a:endParaRPr>
              </a:p>
              <a:p>
                <a:pPr marL="0" indent="0">
                  <a:buNone/>
                </a:pPr>
                <a:endParaRPr lang="it-IT" sz="24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70E96-9A6F-9C47-945A-962BEEE66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730" y="1253330"/>
                <a:ext cx="11744740" cy="4351338"/>
              </a:xfrm>
              <a:blipFill>
                <a:blip r:embed="rId3"/>
                <a:stretch>
                  <a:fillRect l="-865" t="-17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6669C8C-E647-D64C-8251-05C260B6A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0166" y="-350667"/>
            <a:ext cx="3664940" cy="1699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9C527-47BA-9143-9D79-5D24A9349427}"/>
              </a:ext>
            </a:extLst>
          </p:cNvPr>
          <p:cNvCxnSpPr>
            <a:cxnSpLocks/>
          </p:cNvCxnSpPr>
          <p:nvPr/>
        </p:nvCxnSpPr>
        <p:spPr>
          <a:xfrm>
            <a:off x="-20785" y="1142997"/>
            <a:ext cx="12212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614C184-AF82-8C41-886F-57DE2200CE5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14" y="2952169"/>
            <a:ext cx="6503802" cy="599923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B764E135-3C58-CD4C-822B-21796C84DBF7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300" y="2726127"/>
            <a:ext cx="4828123" cy="1351605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FC328E2A-A5FA-D747-B272-E42655F688CA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14" y="4603372"/>
            <a:ext cx="6996172" cy="2027583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C6DA767-80D2-8B41-85A2-623A904C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226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0E96-9A6F-9C47-945A-962BEEE66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24" y="2008469"/>
            <a:ext cx="10760676" cy="4539200"/>
          </a:xfrm>
        </p:spPr>
        <p:txBody>
          <a:bodyPr>
            <a:normAutofit/>
          </a:bodyPr>
          <a:lstStyle/>
          <a:p>
            <a:r>
              <a:rPr lang="it-IT" sz="2200" dirty="0" err="1">
                <a:latin typeface="+mj-lt"/>
              </a:rPr>
              <a:t>They</a:t>
            </a:r>
            <a:r>
              <a:rPr lang="it-IT" sz="2200" dirty="0">
                <a:latin typeface="+mj-lt"/>
              </a:rPr>
              <a:t> </a:t>
            </a:r>
            <a:r>
              <a:rPr lang="it-IT" sz="2200" dirty="0" err="1">
                <a:latin typeface="+mj-lt"/>
              </a:rPr>
              <a:t>used</a:t>
            </a:r>
            <a:r>
              <a:rPr lang="it-IT" sz="2200" dirty="0">
                <a:latin typeface="+mj-lt"/>
              </a:rPr>
              <a:t> an impressive </a:t>
            </a:r>
            <a:r>
              <a:rPr lang="it-IT" sz="2200" dirty="0" err="1">
                <a:latin typeface="+mj-lt"/>
              </a:rPr>
              <a:t>number</a:t>
            </a:r>
            <a:r>
              <a:rPr lang="it-IT" sz="2200" dirty="0">
                <a:latin typeface="+mj-lt"/>
              </a:rPr>
              <a:t> of </a:t>
            </a:r>
            <a:r>
              <a:rPr lang="it-IT" sz="2200" dirty="0" err="1">
                <a:latin typeface="+mj-lt"/>
              </a:rPr>
              <a:t>countries</a:t>
            </a:r>
            <a:r>
              <a:rPr lang="it-IT" sz="2200" dirty="0">
                <a:latin typeface="+mj-lt"/>
              </a:rPr>
              <a:t> to </a:t>
            </a:r>
            <a:r>
              <a:rPr lang="it-IT" sz="2200" dirty="0" err="1">
                <a:latin typeface="+mj-lt"/>
              </a:rPr>
              <a:t>avoid</a:t>
            </a:r>
            <a:r>
              <a:rPr lang="it-IT" sz="2200" dirty="0">
                <a:latin typeface="+mj-lt"/>
              </a:rPr>
              <a:t> sample </a:t>
            </a:r>
            <a:r>
              <a:rPr lang="it-IT" sz="2200" dirty="0" err="1">
                <a:latin typeface="+mj-lt"/>
              </a:rPr>
              <a:t>selection</a:t>
            </a:r>
            <a:r>
              <a:rPr lang="it-IT" sz="2200" dirty="0">
                <a:latin typeface="+mj-lt"/>
              </a:rPr>
              <a:t> </a:t>
            </a:r>
            <a:r>
              <a:rPr lang="it-IT" sz="2200" dirty="0" err="1">
                <a:latin typeface="+mj-lt"/>
              </a:rPr>
              <a:t>bias</a:t>
            </a:r>
            <a:endParaRPr lang="it-IT" sz="2200" dirty="0">
              <a:latin typeface="+mj-lt"/>
            </a:endParaRPr>
          </a:p>
          <a:p>
            <a:endParaRPr lang="it-IT" sz="2200" dirty="0">
              <a:latin typeface="+mj-lt"/>
            </a:endParaRPr>
          </a:p>
          <a:p>
            <a:r>
              <a:rPr lang="en-US" sz="2200" dirty="0">
                <a:latin typeface="+mj-lt"/>
              </a:rPr>
              <a:t>The static model is not taken into consideration because it is very likely that the Foreign Direct Investment stocks are highly correlated with the events in the past</a:t>
            </a:r>
            <a:endParaRPr lang="it-IT" sz="2200" dirty="0">
              <a:latin typeface="+mj-lt"/>
            </a:endParaRPr>
          </a:p>
          <a:p>
            <a:pPr marL="0" indent="0">
              <a:buNone/>
            </a:pPr>
            <a:endParaRPr lang="it-IT" sz="2200" dirty="0">
              <a:latin typeface="+mj-lt"/>
            </a:endParaRPr>
          </a:p>
          <a:p>
            <a:r>
              <a:rPr lang="en-US" sz="2200" dirty="0">
                <a:solidFill>
                  <a:prstClr val="black"/>
                </a:solidFill>
                <a:latin typeface="+mj-lt"/>
              </a:rPr>
              <a:t>Rejecting </a:t>
            </a:r>
            <a:r>
              <a:rPr lang="en-US" sz="2200" dirty="0" err="1">
                <a:solidFill>
                  <a:prstClr val="black"/>
                </a:solidFill>
                <a:latin typeface="+mj-lt"/>
              </a:rPr>
              <a:t>Sargan</a:t>
            </a:r>
            <a:r>
              <a:rPr lang="en-US" sz="2200" dirty="0">
                <a:solidFill>
                  <a:prstClr val="black"/>
                </a:solidFill>
                <a:latin typeface="+mj-lt"/>
              </a:rPr>
              <a:t> Test  indicates that instruments are not exogenous or that the model is not well specified. </a:t>
            </a:r>
            <a:endParaRPr lang="it-IT" sz="2200" dirty="0">
              <a:solidFill>
                <a:prstClr val="black"/>
              </a:solidFill>
              <a:latin typeface="+mj-lt"/>
            </a:endParaRPr>
          </a:p>
          <a:p>
            <a:endParaRPr lang="it-IT" sz="2200" dirty="0">
              <a:latin typeface="+mj-lt"/>
            </a:endParaRPr>
          </a:p>
          <a:p>
            <a:r>
              <a:rPr lang="it-IT" sz="2200" dirty="0" err="1">
                <a:latin typeface="+mj-lt"/>
              </a:rPr>
              <a:t>There</a:t>
            </a:r>
            <a:r>
              <a:rPr lang="it-IT" sz="2200" dirty="0">
                <a:latin typeface="+mj-lt"/>
              </a:rPr>
              <a:t> </a:t>
            </a:r>
            <a:r>
              <a:rPr lang="it-IT" sz="2200" dirty="0" err="1">
                <a:latin typeface="+mj-lt"/>
              </a:rPr>
              <a:t>is</a:t>
            </a:r>
            <a:r>
              <a:rPr lang="it-IT" sz="2200" dirty="0">
                <a:latin typeface="+mj-lt"/>
              </a:rPr>
              <a:t> a positive </a:t>
            </a:r>
            <a:r>
              <a:rPr lang="it-IT" sz="2200" dirty="0" err="1">
                <a:latin typeface="+mj-lt"/>
              </a:rPr>
              <a:t>relationship</a:t>
            </a:r>
            <a:r>
              <a:rPr lang="it-IT" sz="2200" dirty="0">
                <a:latin typeface="+mj-lt"/>
              </a:rPr>
              <a:t> </a:t>
            </a:r>
            <a:r>
              <a:rPr lang="it-IT" sz="2200" dirty="0" err="1">
                <a:latin typeface="+mj-lt"/>
              </a:rPr>
              <a:t>between</a:t>
            </a:r>
            <a:r>
              <a:rPr lang="it-IT" sz="2200" dirty="0">
                <a:latin typeface="+mj-lt"/>
              </a:rPr>
              <a:t> the DTT and FDI</a:t>
            </a:r>
          </a:p>
          <a:p>
            <a:pPr marL="0" indent="0">
              <a:buNone/>
            </a:pPr>
            <a:endParaRPr lang="it-IT" sz="2000" dirty="0">
              <a:latin typeface="+mj-lt"/>
            </a:endParaRPr>
          </a:p>
        </p:txBody>
      </p:sp>
      <p:pic>
        <p:nvPicPr>
          <p:cNvPr id="4" name="Picture 3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A6669C8C-E647-D64C-8251-05C260B6A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0166" y="-350667"/>
            <a:ext cx="3664940" cy="16992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9C527-47BA-9143-9D79-5D24A9349427}"/>
              </a:ext>
            </a:extLst>
          </p:cNvPr>
          <p:cNvCxnSpPr>
            <a:cxnSpLocks/>
          </p:cNvCxnSpPr>
          <p:nvPr/>
        </p:nvCxnSpPr>
        <p:spPr>
          <a:xfrm>
            <a:off x="-20785" y="1142997"/>
            <a:ext cx="12212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76742-5306-C946-8115-A967BCDBA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07AF4-33C4-DF40-BD35-845A4C66D42F}" type="slidenum">
              <a:rPr lang="it-IT" smtClean="0"/>
              <a:t>10</a:t>
            </a:fld>
            <a:endParaRPr lang="it-IT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CF042C-F0EE-4C4C-A02A-8E1C2F10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7124" y="648231"/>
            <a:ext cx="2454876" cy="494766"/>
          </a:xfrm>
        </p:spPr>
        <p:txBody>
          <a:bodyPr>
            <a:noAutofit/>
          </a:bodyPr>
          <a:lstStyle/>
          <a:p>
            <a:r>
              <a:rPr lang="it-IT" sz="3200" dirty="0">
                <a:solidFill>
                  <a:srgbClr val="0070C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46903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2856</TotalTime>
  <Words>1096</Words>
  <Application>Microsoft Macintosh PowerPoint</Application>
  <PresentationFormat>Widescreen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Theme</vt:lpstr>
      <vt:lpstr>Impact of Double Taxation Treaties on Foreign Direct Investment: Evidence from large dyadic panel data</vt:lpstr>
      <vt:lpstr>MOTIVATION AND RESEARCH QUESTION</vt:lpstr>
      <vt:lpstr>VARIABLES</vt:lpstr>
      <vt:lpstr>PowerPoint Presentation</vt:lpstr>
      <vt:lpstr>A SUITABLE MODEL</vt:lpstr>
      <vt:lpstr>A SUITABLE MODEL</vt:lpstr>
      <vt:lpstr>GMM ARELLANO BOND</vt:lpstr>
      <vt:lpstr>TESTS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Double Taxation Treaties on Foreign Direct Investment: Evidence from large dyadic panel data</dc:title>
  <dc:creator>FADELLI LISA [EC1200175]</dc:creator>
  <cp:lastModifiedBy>FADELLI LISA [EC1200175]</cp:lastModifiedBy>
  <cp:revision>59</cp:revision>
  <dcterms:created xsi:type="dcterms:W3CDTF">2021-06-28T07:46:16Z</dcterms:created>
  <dcterms:modified xsi:type="dcterms:W3CDTF">2021-06-30T07:23:14Z</dcterms:modified>
</cp:coreProperties>
</file>